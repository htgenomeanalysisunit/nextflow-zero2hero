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Edoardo Giacopuzzi"/>
  <p:cmAuthor clrIdx="1" id="1" initials="" lastIdx="1" name="Luigi Lamparelli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1-20T12:41:37.253">
    <p:pos x="196" y="725"/>
    <p:text>Questo puoi lasciarlo a Daniel quando fa advanced publish</p:text>
  </p:cm>
  <p:cm authorId="1" idx="1" dt="2026-01-20T12:41:37.253">
    <p:pos x="196" y="725"/>
    <p:text>nel codice ce lo abbiamo mode, quindi io lo accenerei qui e direi "parleremo delle altre fantastiche opzioni più avanti" (saveAs etc)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8fe9aca9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8fe9aca9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8fe9aca9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8fe9aca9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8fe9aca9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8fe9aca9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8fe9aca9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8fe9aca9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8fe9aca9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8fe9aca9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8fe9aca9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8fe9aca9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927d7961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927d7961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927d7961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927d7961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92fa33de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92fa33de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nextflow.io/docs/latest/process.html#processes" TargetMode="External"/><Relationship Id="rId4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nextflow.io/docs/latest/process.html#inputs" TargetMode="External"/><Relationship Id="rId4" Type="http://schemas.openxmlformats.org/officeDocument/2006/relationships/hyperlink" Target="https://www.nextflow.io/docs/latest/process.html#outputs" TargetMode="External"/><Relationship Id="rId5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nextflow.io/docs/latest/process.html#script" TargetMode="External"/><Relationship Id="rId4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nextflow.io/docs/latest/process.html#directives" TargetMode="External"/><Relationship Id="rId4" Type="http://schemas.openxmlformats.org/officeDocument/2006/relationships/hyperlink" Target="https://www.nextflow.io/docs/latest/reference/process.html#directives" TargetMode="External"/><Relationship Id="rId5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comments" Target="../comments/comment1.xml"/><Relationship Id="rId4" Type="http://schemas.openxmlformats.org/officeDocument/2006/relationships/hyperlink" Target="https://www.nextflow.io/docs/latest/reference/process.html#publishdir" TargetMode="External"/><Relationship Id="rId5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Hello Nextflow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Code introduction: workflow &amp; process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Key components of a Nextflow</a:t>
            </a:r>
            <a:r>
              <a:rPr lang="it"/>
              <a:t> pipeline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190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A workflow is a series of “tasks” to be carried out in a specific </a:t>
            </a:r>
            <a:r>
              <a:rPr lang="it"/>
              <a:t>order</a:t>
            </a:r>
            <a:r>
              <a:rPr lang="it"/>
              <a:t> and with pre-defined logics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Every workflow manager (Nextflow, SnakeMake etc.) have its own way of encoding the different tasks to be carried out </a:t>
            </a:r>
            <a:r>
              <a:rPr lang="it"/>
              <a:t>until</a:t>
            </a:r>
            <a:r>
              <a:rPr lang="it"/>
              <a:t> the end of the analysis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In Nextflow you have two main code classes to build your very first pipeline</a:t>
            </a:r>
            <a:endParaRPr/>
          </a:p>
          <a:p>
            <a:pPr indent="-304164" lvl="1" marL="1371600" rtl="0" algn="l">
              <a:spcBef>
                <a:spcPts val="0"/>
              </a:spcBef>
              <a:spcAft>
                <a:spcPts val="0"/>
              </a:spcAft>
              <a:buSzPct val="100000"/>
              <a:buFont typeface="Courier New"/>
              <a:buChar char="○"/>
            </a:pPr>
            <a:r>
              <a:rPr lang="it">
                <a:highlight>
                  <a:srgbClr val="B7B7B7"/>
                </a:highlight>
                <a:latin typeface="Courier New"/>
                <a:ea typeface="Courier New"/>
                <a:cs typeface="Courier New"/>
                <a:sym typeface="Courier New"/>
              </a:rPr>
              <a:t>process</a:t>
            </a:r>
            <a:r>
              <a:rPr lang="it"/>
              <a:t>: the definition of a step, minimally composed by input, output and command to execute</a:t>
            </a:r>
            <a:endParaRPr/>
          </a:p>
          <a:p>
            <a:pPr indent="-304164" lvl="1" marL="1371600" rtl="0" algn="l">
              <a:spcBef>
                <a:spcPts val="0"/>
              </a:spcBef>
              <a:spcAft>
                <a:spcPts val="0"/>
              </a:spcAft>
              <a:buSzPct val="100000"/>
              <a:buFont typeface="Courier New"/>
              <a:buChar char="○"/>
            </a:pPr>
            <a:r>
              <a:rPr lang="it">
                <a:highlight>
                  <a:srgbClr val="B7B7B7"/>
                </a:highlight>
                <a:latin typeface="Courier New"/>
                <a:ea typeface="Courier New"/>
                <a:cs typeface="Courier New"/>
                <a:sym typeface="Courier New"/>
              </a:rPr>
              <a:t>workflow</a:t>
            </a:r>
            <a:r>
              <a:rPr lang="it"/>
              <a:t>: body where to write the </a:t>
            </a:r>
            <a:r>
              <a:rPr lang="it"/>
              <a:t>functions</a:t>
            </a:r>
            <a:r>
              <a:rPr lang="it"/>
              <a:t> to connect </a:t>
            </a:r>
            <a:r>
              <a:rPr lang="it"/>
              <a:t>different</a:t>
            </a:r>
            <a:r>
              <a:rPr lang="it"/>
              <a:t> processes</a:t>
            </a:r>
            <a:endParaRPr/>
          </a:p>
        </p:txBody>
      </p:sp>
      <p:pic>
        <p:nvPicPr>
          <p:cNvPr descr="Make a nice illustration to summarise the key components of a Nextflow pipeline according to these main concepts: A workflow is a series of “tasks” to be carried out in a specific order and with pre-defined logics&#10;Every workflow manager (Nextflow, SnakeMake etc.) have its own way of encoding the different tasks to be carried out until the end of the analysis&#10;In Nextflow you have two main code classes to build your very first pipeline&#10;process: the definition of a step, minimally composed by input, output and command to execute&#10;workflow: body where to write the functions to connect different processes"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9375" y="1152475"/>
            <a:ext cx="3416401" cy="341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Key components and principles of a process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4331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A </a:t>
            </a:r>
            <a:r>
              <a:rPr lang="it">
                <a:highlight>
                  <a:srgbClr val="B7B7B7"/>
                </a:highlight>
                <a:latin typeface="Courier New"/>
                <a:ea typeface="Courier New"/>
                <a:cs typeface="Courier New"/>
                <a:sym typeface="Courier New"/>
              </a:rPr>
              <a:t>process</a:t>
            </a:r>
            <a:r>
              <a:rPr lang="it"/>
              <a:t> is a specialized function for executing scripts in a scalable and portable manner → </a:t>
            </a:r>
            <a:r>
              <a:rPr lang="it" sz="1100" u="sng">
                <a:solidFill>
                  <a:schemeClr val="hlink"/>
                </a:solidFill>
                <a:hlinkClick r:id="rId3"/>
              </a:rPr>
              <a:t>Processes — Nextflow documentation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The very minimal definition include a </a:t>
            </a:r>
            <a:r>
              <a:rPr b="1" lang="it"/>
              <a:t>name</a:t>
            </a:r>
            <a:r>
              <a:rPr lang="it"/>
              <a:t> and a </a:t>
            </a:r>
            <a:r>
              <a:rPr b="1" lang="it"/>
              <a:t>code to be executed</a:t>
            </a:r>
            <a:r>
              <a:rPr lang="it"/>
              <a:t>, but generally it is needed to define other elements: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it"/>
              <a:t>input</a:t>
            </a:r>
            <a:r>
              <a:rPr lang="it"/>
              <a:t>: </a:t>
            </a:r>
            <a:r>
              <a:rPr lang="it"/>
              <a:t>elements</a:t>
            </a:r>
            <a:r>
              <a:rPr lang="it"/>
              <a:t> that are passed to the process from a previous external source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it"/>
              <a:t>output</a:t>
            </a:r>
            <a:r>
              <a:rPr lang="it"/>
              <a:t>: elements that are expected to be produced from the process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it"/>
              <a:t>decorators</a:t>
            </a:r>
            <a:r>
              <a:rPr lang="it"/>
              <a:t>: additional objects, in Nextflow are called “directives”, used to customize the process in many different ways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A each time a </a:t>
            </a:r>
            <a:r>
              <a:rPr lang="it">
                <a:highlight>
                  <a:srgbClr val="B7B7B7"/>
                </a:highlight>
                <a:latin typeface="Courier New"/>
                <a:ea typeface="Courier New"/>
                <a:cs typeface="Courier New"/>
                <a:sym typeface="Courier New"/>
              </a:rPr>
              <a:t>process</a:t>
            </a:r>
            <a:r>
              <a:rPr lang="it"/>
              <a:t> is called is executed into an isolated environment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Inputs are “staged” into a specific execution folder, generally as symlinks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The process command is written in a script automatically created by Nextflow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The process is executed in this isolated environment, so the outputs will be created there</a:t>
            </a:r>
            <a:endParaRPr/>
          </a:p>
        </p:txBody>
      </p:sp>
      <p:pic>
        <p:nvPicPr>
          <p:cNvPr descr="Create a nice inforgraphic to represent the main components and concepts of a Nextflow process and its execution according to these concepts: A process is a specialized function for executing scripts in a scalable and portable manner → Processes — Nextflow documentation&#10;The very minimal definition include a name and a code to be executed, but generally it is needed to define other elements:&#10;input: elements that are passed to the process from a previous external source&#10;output: elements that are expected to be produced from the process&#10;decorators: additional objects, in Nextflow are called “directives”, used to customize the process in many different ways&#10;A each time a process is called is executed into an isolated environment&#10;Inputs are “staged” into a specific execution folder, generally as symlinks&#10;The process command is written in a script automatically created by Nextflow&#10;The process is executed in this isolated environment, so the outputs will be created there&#10;"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3075" y="1061225"/>
            <a:ext cx="3598900" cy="359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Input &amp; output process definitions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4115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A </a:t>
            </a:r>
            <a:r>
              <a:rPr lang="it">
                <a:highlight>
                  <a:srgbClr val="B7B7B7"/>
                </a:highlight>
                <a:latin typeface="Courier New"/>
                <a:ea typeface="Courier New"/>
                <a:cs typeface="Courier New"/>
                <a:sym typeface="Courier New"/>
              </a:rPr>
              <a:t>process</a:t>
            </a:r>
            <a:r>
              <a:rPr lang="it"/>
              <a:t> can have a number (as much as you like) number of inputs that can be defined in many different ways; the most important are:</a:t>
            </a:r>
            <a:endParaRPr/>
          </a:p>
          <a:p>
            <a:pPr indent="-277494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Courier New"/>
              <a:buChar char="○"/>
            </a:pPr>
            <a:r>
              <a:rPr lang="it">
                <a:highlight>
                  <a:srgbClr val="B7B7B7"/>
                </a:highlight>
                <a:latin typeface="Courier New"/>
                <a:ea typeface="Courier New"/>
                <a:cs typeface="Courier New"/>
                <a:sym typeface="Courier New"/>
              </a:rPr>
              <a:t>path</a:t>
            </a:r>
            <a:r>
              <a:rPr lang="it"/>
              <a:t>: used to define input files and staging them correctly in the in execution folder</a:t>
            </a:r>
            <a:endParaRPr/>
          </a:p>
          <a:p>
            <a:pPr indent="-277494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>
                <a:highlight>
                  <a:srgbClr val="B7B7B7"/>
                </a:highlight>
                <a:latin typeface="Courier New"/>
                <a:ea typeface="Courier New"/>
                <a:cs typeface="Courier New"/>
                <a:sym typeface="Courier New"/>
              </a:rPr>
              <a:t>val</a:t>
            </a:r>
            <a:r>
              <a:rPr lang="it"/>
              <a:t>: used to define input variables and use them in your process</a:t>
            </a:r>
            <a:endParaRPr/>
          </a:p>
          <a:p>
            <a:pPr indent="-277494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>
                <a:highlight>
                  <a:srgbClr val="B7B7B7"/>
                </a:highlight>
                <a:latin typeface="Courier New"/>
                <a:ea typeface="Courier New"/>
                <a:cs typeface="Courier New"/>
                <a:sym typeface="Courier New"/>
              </a:rPr>
              <a:t>tuple</a:t>
            </a:r>
            <a:r>
              <a:rPr lang="it"/>
              <a:t>: used to put together multiple of the previous in a unique input definition → for example to link together files and metadata associated to that file</a:t>
            </a:r>
            <a:endParaRPr/>
          </a:p>
          <a:p>
            <a:pPr indent="-277494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Full list here → </a:t>
            </a:r>
            <a:r>
              <a:rPr lang="it" sz="1100" u="sng">
                <a:solidFill>
                  <a:schemeClr val="hlink"/>
                </a:solidFill>
                <a:hlinkClick r:id="rId3"/>
              </a:rPr>
              <a:t>Processes — Nextflow documentation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28571"/>
              <a:buChar char="●"/>
            </a:pPr>
            <a:r>
              <a:rPr lang="it"/>
              <a:t>As for the inputs, the same apply to outputs → you can define as much outputs as you want as </a:t>
            </a:r>
            <a:r>
              <a:rPr lang="it" sz="1400">
                <a:highlight>
                  <a:srgbClr val="B7B7B7"/>
                </a:highlight>
                <a:latin typeface="Courier New"/>
                <a:ea typeface="Courier New"/>
                <a:cs typeface="Courier New"/>
                <a:sym typeface="Courier New"/>
              </a:rPr>
              <a:t>path</a:t>
            </a:r>
            <a:r>
              <a:rPr lang="it" sz="1400"/>
              <a:t>, </a:t>
            </a:r>
            <a:r>
              <a:rPr lang="it" sz="1400">
                <a:highlight>
                  <a:srgbClr val="B7B7B7"/>
                </a:highlight>
                <a:latin typeface="Courier New"/>
                <a:ea typeface="Courier New"/>
                <a:cs typeface="Courier New"/>
                <a:sym typeface="Courier New"/>
              </a:rPr>
              <a:t>val</a:t>
            </a:r>
            <a:r>
              <a:rPr lang="it" sz="1400"/>
              <a:t> or  </a:t>
            </a:r>
            <a:r>
              <a:rPr lang="it" sz="1400">
                <a:highlight>
                  <a:srgbClr val="B7B7B7"/>
                </a:highlight>
                <a:latin typeface="Courier New"/>
                <a:ea typeface="Courier New"/>
                <a:cs typeface="Courier New"/>
                <a:sym typeface="Courier New"/>
              </a:rPr>
              <a:t>tuple</a:t>
            </a:r>
            <a:r>
              <a:rPr lang="it" sz="1400"/>
              <a:t> ()</a:t>
            </a:r>
            <a:endParaRPr sz="1400"/>
          </a:p>
          <a:p>
            <a:pPr indent="-277494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The existence of output files (e.g. the one defined by </a:t>
            </a:r>
            <a:r>
              <a:rPr lang="it">
                <a:highlight>
                  <a:srgbClr val="B7B7B7"/>
                </a:highlight>
                <a:latin typeface="Courier New"/>
                <a:ea typeface="Courier New"/>
                <a:cs typeface="Courier New"/>
                <a:sym typeface="Courier New"/>
              </a:rPr>
              <a:t>path</a:t>
            </a:r>
            <a:r>
              <a:rPr lang="it"/>
              <a:t>) are generally checked every time a given process is executed</a:t>
            </a:r>
            <a:endParaRPr/>
          </a:p>
          <a:p>
            <a:pPr indent="-27749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it"/>
              <a:t>Defined output files can be published them to the results folder</a:t>
            </a:r>
            <a:endParaRPr/>
          </a:p>
          <a:p>
            <a:pPr indent="-277494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Full list here → </a:t>
            </a:r>
            <a:r>
              <a:rPr lang="it" sz="1100" u="sng">
                <a:solidFill>
                  <a:schemeClr val="hlink"/>
                </a:solidFill>
                <a:hlinkClick r:id="rId4"/>
              </a:rPr>
              <a:t>Processes — Nextflow documentation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Each input/output definition may have a series of options related to them</a:t>
            </a:r>
            <a:endParaRPr/>
          </a:p>
          <a:p>
            <a:pPr indent="-277494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Input files (e.g. when you declare them with </a:t>
            </a:r>
            <a:r>
              <a:rPr lang="it">
                <a:highlight>
                  <a:srgbClr val="B7B7B7"/>
                </a:highlight>
                <a:latin typeface="Courier New"/>
                <a:ea typeface="Courier New"/>
                <a:cs typeface="Courier New"/>
                <a:sym typeface="Courier New"/>
              </a:rPr>
              <a:t>path</a:t>
            </a:r>
            <a:r>
              <a:rPr lang="it"/>
              <a:t>) can have a custom staging name function</a:t>
            </a:r>
            <a:endParaRPr/>
          </a:p>
          <a:p>
            <a:pPr indent="-277494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Output files can be defined as optional and/or be “emitted” as previously so that they can be passed outside the process to your workflow</a:t>
            </a:r>
            <a:endParaRPr/>
          </a:p>
        </p:txBody>
      </p:sp>
      <p:pic>
        <p:nvPicPr>
          <p:cNvPr descr="Create a nice illustration to summarise the main aspects of Nextflow process input and outputs according to these concepts: A process can have a number (as much as you like) number of inputs that can be defined in many different ways; the most important are:&#10;path: used to define input files and staging them correctly in the in execution folder&#10;val: used to define input variables and use them in your process&#10;tuple: used to put together multiple of the previous in a unique input definition → for example to link together files and metadata associated to that file&#10;Full list here → Processes — Nextflow documentation&#10;As for the inputs, the same apply to outputs → you can define as much outputs as you want as path, val or  tuple ()&#10;The existence of output files (e.g. the one defined by path) are generally checked every time a given process is executed&#10;Defined output files can be published them to the results folder&#10;Full list&#10; here → Processes — Nextflow documentation&#10;Each input/output definition may have a series of options related to them&#10;Input files (e.g. when you declare them with path) can have a custom staging name function&#10;Output files can be defined as optional and/or be “emitted” as previously so that they can be passed outside the process to your workflow&#10;" id="76" name="Google Shape;76;p16"/>
          <p:cNvPicPr preferRelativeResize="0"/>
          <p:nvPr/>
        </p:nvPicPr>
        <p:blipFill rotWithShape="1">
          <a:blip r:embed="rId5">
            <a:alphaModFix/>
          </a:blip>
          <a:srcRect b="6985" l="0" r="0" t="0"/>
          <a:stretch/>
        </p:blipFill>
        <p:spPr>
          <a:xfrm>
            <a:off x="4816450" y="1036887"/>
            <a:ext cx="3921475" cy="364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Command definition: the “script” section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4962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In the </a:t>
            </a:r>
            <a:r>
              <a:rPr lang="it">
                <a:highlight>
                  <a:srgbClr val="B7B7B7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it"/>
              <a:t> section you can define, as a string, the Bash command to execute for a given </a:t>
            </a:r>
            <a:r>
              <a:rPr lang="it">
                <a:highlight>
                  <a:srgbClr val="B7B7B7"/>
                </a:highlight>
                <a:latin typeface="Courier New"/>
                <a:ea typeface="Courier New"/>
                <a:cs typeface="Courier New"/>
                <a:sym typeface="Courier New"/>
              </a:rPr>
              <a:t>process</a:t>
            </a:r>
            <a:r>
              <a:rPr lang="it"/>
              <a:t> → </a:t>
            </a:r>
            <a:r>
              <a:rPr lang="it" sz="1100" u="sng">
                <a:solidFill>
                  <a:schemeClr val="hlink"/>
                </a:solidFill>
                <a:hlinkClick r:id="rId3"/>
              </a:rPr>
              <a:t>Processes — Nextflow documentation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The command is executed in the </a:t>
            </a:r>
            <a:r>
              <a:rPr b="1" lang="it"/>
              <a:t>isolated environment</a:t>
            </a:r>
            <a:r>
              <a:rPr lang="it"/>
              <a:t>, so it will use the commands and tools available in that given environment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This string can be also multi-line, so that you can </a:t>
            </a:r>
            <a:r>
              <a:rPr b="1" lang="it"/>
              <a:t>write it down as any Bash</a:t>
            </a:r>
            <a:r>
              <a:rPr lang="it"/>
              <a:t> script you would normally write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This string can be </a:t>
            </a:r>
            <a:r>
              <a:rPr b="1" lang="it"/>
              <a:t>preceded by any Groovy statement</a:t>
            </a:r>
            <a:r>
              <a:rPr lang="it"/>
              <a:t> where you can perform any Groovy operation with the defined input → for example you can define specific command parameters given specific values passed to </a:t>
            </a:r>
            <a:r>
              <a:rPr lang="it">
                <a:highlight>
                  <a:srgbClr val="B7B7B7"/>
                </a:highlight>
                <a:latin typeface="Courier New"/>
                <a:ea typeface="Courier New"/>
                <a:cs typeface="Courier New"/>
                <a:sym typeface="Courier New"/>
              </a:rPr>
              <a:t>val</a:t>
            </a:r>
            <a:r>
              <a:rPr lang="it"/>
              <a:t> and pass them to the command string using interpolation</a:t>
            </a:r>
            <a:endParaRPr/>
          </a:p>
        </p:txBody>
      </p:sp>
      <p:pic>
        <p:nvPicPr>
          <p:cNvPr descr="Make a nice illustration to describe the script section of a Nextflow process according to these main concepts: In the script section you can define, as a string, the Bash command to execute for a given process → Processes — Nextflow documentation&#10;The command is executed in the isolated environment, so it will use the commands and tools available in that given environment&#10;This string can be also multi-line, so that you can write it down as any Bash script you would normally write&#10;This string can be preceded by any Groovy statement where you can perform any Groovy operation with the defined input → for example you can define specific command parameters given specific values passed to val and pass them to the command string using interpolation" id="83" name="Google Shape;83;p17"/>
          <p:cNvPicPr preferRelativeResize="0"/>
          <p:nvPr/>
        </p:nvPicPr>
        <p:blipFill rotWithShape="1">
          <a:blip r:embed="rId4">
            <a:alphaModFix/>
          </a:blip>
          <a:srcRect b="9107" l="0" r="0" t="0"/>
          <a:stretch/>
        </p:blipFill>
        <p:spPr>
          <a:xfrm>
            <a:off x="5364450" y="1331137"/>
            <a:ext cx="3365524" cy="305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Nextflow and Bash variables in the process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4521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When writing a process, remember that you have “two environments” in the same place instance with their own </a:t>
            </a:r>
            <a:r>
              <a:rPr lang="it"/>
              <a:t>environmental</a:t>
            </a:r>
            <a:r>
              <a:rPr lang="it"/>
              <a:t> variables: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Nextflow: defined input, process metadata (for example the process name)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Bash: anything you would define during the process or general variables such as </a:t>
            </a:r>
            <a:r>
              <a:rPr lang="it">
                <a:highlight>
                  <a:srgbClr val="B7B7B7"/>
                </a:highlight>
                <a:latin typeface="Courier New"/>
                <a:ea typeface="Courier New"/>
                <a:cs typeface="Courier New"/>
                <a:sym typeface="Courier New"/>
              </a:rPr>
              <a:t>${PATH}</a:t>
            </a:r>
            <a:endParaRPr>
              <a:highlight>
                <a:srgbClr val="B7B7B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If you don’t need any Nextflow variable, you can use single quotes (</a:t>
            </a:r>
            <a:r>
              <a:rPr lang="it">
                <a:highlight>
                  <a:srgbClr val="B7B7B7"/>
                </a:highlight>
                <a:latin typeface="Courier New"/>
                <a:ea typeface="Courier New"/>
                <a:cs typeface="Courier New"/>
                <a:sym typeface="Courier New"/>
              </a:rPr>
              <a:t>‘</a:t>
            </a:r>
            <a:r>
              <a:rPr lang="it"/>
              <a:t>) to call Bash variables as they are (e.g. </a:t>
            </a:r>
            <a:r>
              <a:rPr lang="it">
                <a:highlight>
                  <a:srgbClr val="B7B7B7"/>
                </a:highlight>
                <a:latin typeface="Courier New"/>
                <a:ea typeface="Courier New"/>
                <a:cs typeface="Courier New"/>
                <a:sym typeface="Courier New"/>
              </a:rPr>
              <a:t>$my_var</a:t>
            </a:r>
            <a:r>
              <a:rPr lang="it"/>
              <a:t>)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If you need to access Nextflow variables, then you need to use double quotes (</a:t>
            </a:r>
            <a:r>
              <a:rPr lang="it">
                <a:highlight>
                  <a:srgbClr val="B7B7B7"/>
                </a:highlight>
                <a:latin typeface="Courier New"/>
                <a:ea typeface="Courier New"/>
                <a:cs typeface="Courier New"/>
                <a:sym typeface="Courier New"/>
              </a:rPr>
              <a:t>“</a:t>
            </a:r>
            <a:r>
              <a:rPr lang="it"/>
              <a:t>) and to escape Bash variables (e.g. </a:t>
            </a:r>
            <a:r>
              <a:rPr lang="it">
                <a:highlight>
                  <a:srgbClr val="B7B7B7"/>
                </a:highlight>
                <a:latin typeface="Courier New"/>
                <a:ea typeface="Courier New"/>
                <a:cs typeface="Courier New"/>
                <a:sym typeface="Courier New"/>
              </a:rPr>
              <a:t>\${my_var}</a:t>
            </a:r>
            <a:r>
              <a:rPr lang="it"/>
              <a:t>) because the Nextflow variables are called with the usual </a:t>
            </a:r>
            <a:r>
              <a:rPr lang="it">
                <a:highlight>
                  <a:srgbClr val="B7B7B7"/>
                </a:highlight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it"/>
              <a:t> notation (e.g. </a:t>
            </a:r>
            <a:r>
              <a:rPr lang="it">
                <a:highlight>
                  <a:srgbClr val="B7B7B7"/>
                </a:highlight>
                <a:latin typeface="Courier New"/>
                <a:ea typeface="Courier New"/>
                <a:cs typeface="Courier New"/>
                <a:sym typeface="Courier New"/>
              </a:rPr>
              <a:t>${my_nf_var}</a:t>
            </a:r>
            <a:r>
              <a:rPr lang="it"/>
              <a:t>, </a:t>
            </a:r>
            <a:r>
              <a:rPr lang="it">
                <a:highlight>
                  <a:srgbClr val="B7B7B7"/>
                </a:highlight>
                <a:latin typeface="Courier New"/>
                <a:ea typeface="Courier New"/>
                <a:cs typeface="Courier New"/>
                <a:sym typeface="Courier New"/>
              </a:rPr>
              <a:t>\${my_bash_var}</a:t>
            </a:r>
            <a:r>
              <a:rPr lang="it"/>
              <a:t>)</a:t>
            </a:r>
            <a:endParaRPr/>
          </a:p>
        </p:txBody>
      </p:sp>
      <p:pic>
        <p:nvPicPr>
          <p:cNvPr descr="Make a nice illustration to explain how to refer to nextflow or environmental variables in a Nextflow script according to these main concepts: When writing a process, remember that you have “two environments” in the same place instance with their own environmental variables:&#10;Nextflow: defined input, process metadata (for example the process name)&#10;Bash: anything you would define during the process or general variables such as ${PATH}&#10;If you don’t need any Nextflow variable, you can use single quotes (‘) to call Bash variables as they are (e.g. $my_var)&#10;If you need to access Nextflow variables, then you need to use double quotes (“) and to escape Bash variables (e.g. \${my_var}) because the Nextflow variables are called with the usual $ notation (e.g. ${my_nf_var}, \${my_bash_var})"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1925" y="990487"/>
            <a:ext cx="3740375" cy="374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Input file name collision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Whenever you have a job that takes multiple files as input, each one of these must have a unique name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Since every task is executed in an isolated environment and since the input files are staged TOGETHER in a single folder, if you have files that have the same name Nextflow will fail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To avoid this error, find a “unique ID” to name your time for each task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For example, if you need to execute a task </a:t>
            </a:r>
            <a:r>
              <a:rPr b="1" lang="it"/>
              <a:t>by sample</a:t>
            </a:r>
            <a:r>
              <a:rPr lang="it"/>
              <a:t>, you could name your file </a:t>
            </a:r>
            <a:r>
              <a:rPr lang="it">
                <a:highlight>
                  <a:srgbClr val="B7B7B7"/>
                </a:highlight>
                <a:latin typeface="Courier New"/>
                <a:ea typeface="Courier New"/>
                <a:cs typeface="Courier New"/>
                <a:sym typeface="Courier New"/>
              </a:rPr>
              <a:t>${sample}.txt</a:t>
            </a:r>
            <a:endParaRPr>
              <a:highlight>
                <a:srgbClr val="B7B7B7"/>
              </a:highlight>
            </a:endParaRPr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You can apply this reasoning for every combination of variables that </a:t>
            </a:r>
            <a:r>
              <a:rPr lang="it"/>
              <a:t>uniquely</a:t>
            </a:r>
            <a:r>
              <a:rPr lang="it"/>
              <a:t> define a task execution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If you have a task that you know it will be executed only once, you don’t need to worry about this and you can use a “flat” name for your file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To name your files, you can use metadata that you bring together with a file in your channel and access that metadata as a Nextflow variable in the </a:t>
            </a:r>
            <a:r>
              <a:rPr lang="it">
                <a:highlight>
                  <a:srgbClr val="B7B7B7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it"/>
              <a:t> section</a:t>
            </a:r>
            <a:endParaRPr/>
          </a:p>
        </p:txBody>
      </p:sp>
      <p:pic>
        <p:nvPicPr>
          <p:cNvPr descr="Make a nice illustration to conceptualize the problem of input file name collision and best practises to handle file naming in Nextflow processes"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0750" y="911050"/>
            <a:ext cx="3899250" cy="389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Decorators for your processes: directives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4401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Directives are optional settings that affect the execution of the current process → </a:t>
            </a:r>
            <a:r>
              <a:rPr lang="it" sz="1100" u="sng">
                <a:solidFill>
                  <a:schemeClr val="hlink"/>
                </a:solidFill>
                <a:hlinkClick r:id="rId3"/>
              </a:rPr>
              <a:t>Processes — Nextflow documentation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There are A LOT of different directives; some will have default values even if you don’t declare them while others are specific for given situation and will not be used in specific scenarios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Examples of executors can be related to: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Resources: CPUs, Memory or time to assign to each task execution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Software environments: HPC modules, conda environments, containers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Other general configuration</a:t>
            </a:r>
            <a:endParaRPr/>
          </a:p>
          <a:p>
            <a:pPr indent="-290830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it"/>
              <a:t>Publish files to a given output folder</a:t>
            </a:r>
            <a:endParaRPr/>
          </a:p>
          <a:p>
            <a:pPr indent="-290830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it"/>
              <a:t>Executor → which scheduler to use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Comprehensive documentation of all the directives → </a:t>
            </a:r>
            <a:r>
              <a:rPr lang="it" sz="1100" u="sng">
                <a:solidFill>
                  <a:schemeClr val="hlink"/>
                </a:solidFill>
                <a:hlinkClick r:id="rId4"/>
              </a:rPr>
              <a:t>Process reference — Nextflow documentation</a:t>
            </a:r>
            <a:endParaRPr/>
          </a:p>
        </p:txBody>
      </p:sp>
      <p:pic>
        <p:nvPicPr>
          <p:cNvPr descr="Make a nice illustration that introduces the directives to customise a process behaviour in Nextflow according to these main concepts: Directives are optional settings that affect the execution of the current process → Processes — Nextflow documentation&#10;There are A LOT of different directives; some will have default values even if you don’t declare them while others are specific for given situation and will not be used in specific scenarios&#10;Examples of executors can be related to:&#10;Resources: CPUs, Memory or time to assign to each task execution&#10;Software environments: HPC modules, conda environments, containers&#10;Other general configuration&#10;Publish files to a given output folder&#10;Executor → which scheduler to use&#10;" id="104" name="Google Shape;10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79000" y="983288"/>
            <a:ext cx="3754775" cy="375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publishDir directive for publishing files to your output folder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447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As we said, tasks are executed in an isolated context and </a:t>
            </a:r>
            <a:r>
              <a:rPr lang="it"/>
              <a:t>directory in the work space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If we want to save files from that isolated space to another location, we need to use the </a:t>
            </a:r>
            <a:r>
              <a:rPr lang="it">
                <a:highlight>
                  <a:srgbClr val="B7B7B7"/>
                </a:highlight>
                <a:latin typeface="Courier New"/>
                <a:ea typeface="Courier New"/>
                <a:cs typeface="Courier New"/>
                <a:sym typeface="Courier New"/>
              </a:rPr>
              <a:t>publishDir</a:t>
            </a:r>
            <a:r>
              <a:rPr lang="it"/>
              <a:t> directive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With this we can define the output folder and customize where to put all the output files that we need in a user friendly manner, without looking for them in the work dir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The directive have multiple options associated to the path where to publish the files; one of these is </a:t>
            </a:r>
            <a:r>
              <a:rPr lang="it">
                <a:highlight>
                  <a:srgbClr val="B7B7B7"/>
                </a:highlight>
                <a:latin typeface="Courier New"/>
                <a:ea typeface="Courier New"/>
                <a:cs typeface="Courier New"/>
                <a:sym typeface="Courier New"/>
              </a:rPr>
              <a:t>mode</a:t>
            </a:r>
            <a:endParaRPr>
              <a:highlight>
                <a:srgbClr val="B7B7B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77494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With </a:t>
            </a:r>
            <a:r>
              <a:rPr lang="it">
                <a:highlight>
                  <a:srgbClr val="B7B7B7"/>
                </a:highlight>
                <a:latin typeface="Courier New"/>
                <a:ea typeface="Courier New"/>
                <a:cs typeface="Courier New"/>
                <a:sym typeface="Courier New"/>
              </a:rPr>
              <a:t>mode</a:t>
            </a:r>
            <a:r>
              <a:rPr lang="it"/>
              <a:t> you can control </a:t>
            </a:r>
            <a:r>
              <a:rPr b="1" lang="it"/>
              <a:t>how</a:t>
            </a:r>
            <a:r>
              <a:rPr lang="it"/>
              <a:t> a file is published from the work to the output directive</a:t>
            </a:r>
            <a:endParaRPr/>
          </a:p>
          <a:p>
            <a:pPr indent="-277494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By default </a:t>
            </a:r>
            <a:r>
              <a:rPr lang="it">
                <a:highlight>
                  <a:srgbClr val="B7B7B7"/>
                </a:highlight>
                <a:latin typeface="Courier New"/>
                <a:ea typeface="Courier New"/>
                <a:cs typeface="Courier New"/>
                <a:sym typeface="Courier New"/>
              </a:rPr>
              <a:t>mode</a:t>
            </a:r>
            <a:r>
              <a:rPr lang="it"/>
              <a:t> is symlink, so you will not copy the files to your output dir but you will symlink them</a:t>
            </a:r>
            <a:endParaRPr/>
          </a:p>
          <a:p>
            <a:pPr indent="-277494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Symlinks allow you to save space but once you clean up your work folder your symlink will be broken</a:t>
            </a:r>
            <a:endParaRPr/>
          </a:p>
          <a:p>
            <a:pPr indent="-277494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Copying files will temporarily occupy more space until you don’t clean up your work dir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>
                <a:highlight>
                  <a:srgbClr val="B7B7B7"/>
                </a:highlight>
                <a:latin typeface="Courier New"/>
                <a:ea typeface="Courier New"/>
                <a:cs typeface="Courier New"/>
                <a:sym typeface="Courier New"/>
              </a:rPr>
              <a:t>publishDir</a:t>
            </a:r>
            <a:r>
              <a:rPr lang="it"/>
              <a:t> complete reference: </a:t>
            </a:r>
            <a:r>
              <a:rPr lang="it" sz="1100" u="sng">
                <a:solidFill>
                  <a:schemeClr val="hlink"/>
                </a:solidFill>
                <a:hlinkClick r:id="rId4"/>
              </a:rPr>
              <a:t>Process reference — Nextflow documentation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IMPORTANT</a:t>
            </a:r>
            <a:r>
              <a:rPr lang="it"/>
              <a:t>: the copy of the files to the destination dir is asynchronous, meaning that the copy of the files doesn’t necessarily start when the output file is created</a:t>
            </a:r>
            <a:endParaRPr/>
          </a:p>
          <a:p>
            <a:pPr indent="-277494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There may be an important number of files to copy, Nextflow will create a “queue to copy”</a:t>
            </a:r>
            <a:endParaRPr/>
          </a:p>
          <a:p>
            <a:pPr indent="-277494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it"/>
              <a:t>NEVER</a:t>
            </a:r>
            <a:r>
              <a:rPr lang="it"/>
              <a:t> use the published files in your workflow → the copy can take time, the files will be corrupted during the copy</a:t>
            </a:r>
            <a:endParaRPr/>
          </a:p>
        </p:txBody>
      </p:sp>
      <p:pic>
        <p:nvPicPr>
          <p:cNvPr descr="Create a nice illustration to explain the main logic of publishDir in a nextflow process according to these main concepts: As we said, tasks are executed in an isolated context and directory in the work space&#10;If we want to save files from that isolated space to another location, we need to use the publishDir directive&#10;With this we can define the output folder and customize where to put all the output files that we need in a user friendly manner, without looking for them in the work dir&#10;The directive have multiple options &#10;(more on this later)" id="111" name="Google Shape;11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72850" y="1043825"/>
            <a:ext cx="3633700" cy="363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Recap and key points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4601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Nextflow pipelines are composed by workflows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In workflows you can define the different steps using processes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The process is defined outside the workflow and then called inside the workflow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Processes are generally composed by different elements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Inputs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Outputs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Command to be executed (script)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Directives → decorators that can be used to customize the process</a:t>
            </a:r>
            <a:endParaRPr/>
          </a:p>
        </p:txBody>
      </p:sp>
      <p:pic>
        <p:nvPicPr>
          <p:cNvPr descr="Make a nice illustration as take home message on the basics of Nextflow process and workflow according to these main points: Nextflow pipelines are composed by workflows&#10;In workflows you can define the different steps using processes&#10;The process is defined outside the workflow and then called inside the workflow&#10;Processes are generally composed by different elements&#10;Inputs&#10;Outputs&#10;Command to be executed (script)&#10;Directives → decorators that can be used to customize the process&#10;"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8800" y="1053925"/>
            <a:ext cx="3613500" cy="36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