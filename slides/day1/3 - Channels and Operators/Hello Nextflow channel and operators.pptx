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b92f41fe6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92f41fe6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b92f41fe6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b92f41fe6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92f41fe69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92f41fe6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b92f41fe69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b92f41fe6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b92f41fe6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b92f41fe6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b92f41fe69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b92f41fe69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b97f0d471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b97f0d471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b92f41fe69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b92f41fe69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b92f41fe6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b92f41fe6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b92f41fe69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b92f41fe6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b92f41fe69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b92f41fe69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b92f41fe69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b92f41fe69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b92f41fe69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b92f41fe69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b92f41fe69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b92f41fe69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b97f0d471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b97f0d471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nextflow.io/docs/latest/workflow.html#channels"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hyperlink" Target="https://www.nextflow.io/docs/latest/reference/channel.html#channel-factories"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hyperlink" Target="https://www.nextflow.io/docs/latest/reference/operator.html"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hyperlink" Target="https://www.nextflow.io/docs/latest/script.html#closure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it"/>
              <a:t>Hello Nextflow</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it"/>
              <a:t>Code introduction: channels and operators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Connect your processes in a workflow: channels</a:t>
            </a:r>
            <a:endParaRPr/>
          </a:p>
        </p:txBody>
      </p:sp>
      <p:sp>
        <p:nvSpPr>
          <p:cNvPr id="61" name="Google Shape;61;p14"/>
          <p:cNvSpPr txBox="1">
            <a:spLocks noGrp="1"/>
          </p:cNvSpPr>
          <p:nvPr>
            <p:ph type="body" idx="1"/>
          </p:nvPr>
        </p:nvSpPr>
        <p:spPr>
          <a:xfrm>
            <a:off x="311700" y="1152475"/>
            <a:ext cx="4684200" cy="3416400"/>
          </a:xfrm>
          <a:prstGeom prst="rect">
            <a:avLst/>
          </a:prstGeom>
        </p:spPr>
        <p:txBody>
          <a:bodyPr spcFirstLastPara="1" wrap="square" lIns="91425" tIns="91425" rIns="91425" bIns="91425" anchor="t" anchorCtr="0">
            <a:normAutofit fontScale="77500" lnSpcReduction="10000"/>
          </a:bodyPr>
          <a:lstStyle/>
          <a:p>
            <a:pPr marL="457200" lvl="0" indent="-317182" algn="l" rtl="0">
              <a:spcBef>
                <a:spcPts val="0"/>
              </a:spcBef>
              <a:spcAft>
                <a:spcPts val="0"/>
              </a:spcAft>
              <a:buSzPct val="100000"/>
              <a:buChar char="●"/>
            </a:pPr>
            <a:r>
              <a:rPr lang="it"/>
              <a:t>A pipeline, is a series of steps represented by processes where each task is executed a dynamic number of times based on the input data</a:t>
            </a:r>
            <a:endParaRPr/>
          </a:p>
          <a:p>
            <a:pPr marL="457200" lvl="0" indent="-317182" algn="l" rtl="0">
              <a:spcBef>
                <a:spcPts val="0"/>
              </a:spcBef>
              <a:spcAft>
                <a:spcPts val="0"/>
              </a:spcAft>
              <a:buSzPct val="100000"/>
              <a:buChar char="●"/>
            </a:pPr>
            <a:r>
              <a:rPr lang="it"/>
              <a:t>To connect the different processes together in an actual workflow, Nextflow uses </a:t>
            </a:r>
            <a:r>
              <a:rPr lang="it">
                <a:highlight>
                  <a:srgbClr val="B7B7B7"/>
                </a:highlight>
                <a:latin typeface="Courier New"/>
                <a:ea typeface="Courier New"/>
                <a:cs typeface="Courier New"/>
                <a:sym typeface="Courier New"/>
              </a:rPr>
              <a:t>channels</a:t>
            </a:r>
            <a:r>
              <a:rPr lang="it"/>
              <a:t> → </a:t>
            </a:r>
            <a:r>
              <a:rPr lang="it" sz="1100" u="sng">
                <a:solidFill>
                  <a:schemeClr val="hlink"/>
                </a:solidFill>
                <a:hlinkClick r:id="rId3"/>
              </a:rPr>
              <a:t>Workflows — Nextflow documentation</a:t>
            </a:r>
            <a:endParaRPr/>
          </a:p>
          <a:p>
            <a:pPr marL="457200" lvl="0" indent="-317182" algn="l" rtl="0">
              <a:spcBef>
                <a:spcPts val="0"/>
              </a:spcBef>
              <a:spcAft>
                <a:spcPts val="0"/>
              </a:spcAft>
              <a:buSzPct val="100000"/>
              <a:buChar char="●"/>
            </a:pPr>
            <a:r>
              <a:rPr lang="it"/>
              <a:t>Channels are “flows” of information; each “piece of information” that pass through a channel is called “</a:t>
            </a:r>
            <a:r>
              <a:rPr lang="it" b="1"/>
              <a:t>emission</a:t>
            </a:r>
            <a:r>
              <a:rPr lang="it"/>
              <a:t>”</a:t>
            </a:r>
            <a:endParaRPr/>
          </a:p>
          <a:p>
            <a:pPr marL="914400" lvl="1" indent="-297497" algn="l" rtl="0">
              <a:spcBef>
                <a:spcPts val="0"/>
              </a:spcBef>
              <a:spcAft>
                <a:spcPts val="0"/>
              </a:spcAft>
              <a:buSzPct val="100000"/>
              <a:buChar char="○"/>
            </a:pPr>
            <a:r>
              <a:rPr lang="it"/>
              <a:t>As a minimal example, if you have to pass a file from a process “A” to a process “B”, the emission will consist of the file itself</a:t>
            </a:r>
            <a:endParaRPr/>
          </a:p>
          <a:p>
            <a:pPr marL="914400" lvl="1" indent="-297497" algn="l" rtl="0">
              <a:spcBef>
                <a:spcPts val="0"/>
              </a:spcBef>
              <a:spcAft>
                <a:spcPts val="0"/>
              </a:spcAft>
              <a:buSzPct val="100000"/>
              <a:buChar char="○"/>
            </a:pPr>
            <a:r>
              <a:rPr lang="it"/>
              <a:t>Each emission can be anything: a string, a number, a file, a map (dictionary), a list of the previous in any combination you like!</a:t>
            </a:r>
            <a:endParaRPr/>
          </a:p>
        </p:txBody>
      </p:sp>
      <p:pic>
        <p:nvPicPr>
          <p:cNvPr id="62" name="Google Shape;62;p14" descr="Make a nice illustration to summarise the basics of Nextflow channels according to these main points: A pipeline, is a series of steps represented by processes where each task is executed a dynamic number of times based on the input data&#10;To connect the different processes together in an actual workflow, Nextflow uses channels → Workflows — Nextflow documentation&#10;Channels are “flows” of information; each “piece of information” that pass through a channel is called “emission”&#10;As a minimal example, if you have to pass a file from a process “A” to a process “B”, the emission will consist of the file itself&#10;Each emission can be anything: a string, a number, a file, a map (dictionary), a list of the previous in any combination you like!&#10;"/>
          <p:cNvPicPr preferRelativeResize="0"/>
          <p:nvPr/>
        </p:nvPicPr>
        <p:blipFill>
          <a:blip r:embed="rId4">
            <a:alphaModFix/>
          </a:blip>
          <a:stretch>
            <a:fillRect/>
          </a:stretch>
        </p:blipFill>
        <p:spPr>
          <a:xfrm>
            <a:off x="5150875" y="1017725"/>
            <a:ext cx="3760349" cy="37603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Creating a new channel: channel factories</a:t>
            </a:r>
            <a:endParaRPr/>
          </a:p>
        </p:txBody>
      </p:sp>
      <p:sp>
        <p:nvSpPr>
          <p:cNvPr id="68" name="Google Shape;68;p15"/>
          <p:cNvSpPr txBox="1">
            <a:spLocks noGrp="1"/>
          </p:cNvSpPr>
          <p:nvPr>
            <p:ph type="body" idx="1"/>
          </p:nvPr>
        </p:nvSpPr>
        <p:spPr>
          <a:xfrm>
            <a:off x="311700" y="1152475"/>
            <a:ext cx="4462800" cy="3416400"/>
          </a:xfrm>
          <a:prstGeom prst="rect">
            <a:avLst/>
          </a:prstGeom>
        </p:spPr>
        <p:txBody>
          <a:bodyPr spcFirstLastPara="1" wrap="square" lIns="91425" tIns="91425" rIns="91425" bIns="91425" anchor="t" anchorCtr="0">
            <a:normAutofit fontScale="55000" lnSpcReduction="10000"/>
          </a:bodyPr>
          <a:lstStyle/>
          <a:p>
            <a:pPr marL="457200" lvl="0" indent="-291465" algn="l" rtl="0">
              <a:spcBef>
                <a:spcPts val="0"/>
              </a:spcBef>
              <a:spcAft>
                <a:spcPts val="0"/>
              </a:spcAft>
              <a:buSzPct val="100000"/>
              <a:buChar char="●"/>
            </a:pPr>
            <a:r>
              <a:rPr lang="it"/>
              <a:t>There are multiple ways to create a </a:t>
            </a:r>
            <a:r>
              <a:rPr lang="it">
                <a:highlight>
                  <a:srgbClr val="B7B7B7"/>
                </a:highlight>
                <a:latin typeface="Courier New"/>
                <a:ea typeface="Courier New"/>
                <a:cs typeface="Courier New"/>
                <a:sym typeface="Courier New"/>
              </a:rPr>
              <a:t>channel</a:t>
            </a:r>
            <a:r>
              <a:rPr lang="it"/>
              <a:t>:</a:t>
            </a:r>
            <a:endParaRPr/>
          </a:p>
          <a:p>
            <a:pPr marL="914400" lvl="1" indent="-277494" algn="l" rtl="0">
              <a:spcBef>
                <a:spcPts val="0"/>
              </a:spcBef>
              <a:spcAft>
                <a:spcPts val="0"/>
              </a:spcAft>
              <a:buSzPct val="100000"/>
              <a:buChar char="○"/>
            </a:pPr>
            <a:r>
              <a:rPr lang="it">
                <a:highlight>
                  <a:srgbClr val="B7B7B7"/>
                </a:highlight>
                <a:latin typeface="Courier New"/>
                <a:ea typeface="Courier New"/>
                <a:cs typeface="Courier New"/>
                <a:sym typeface="Courier New"/>
              </a:rPr>
              <a:t>channel.empty</a:t>
            </a:r>
            <a:r>
              <a:rPr lang="it"/>
              <a:t>: create and empty channel (e.g. with no emissions)</a:t>
            </a:r>
            <a:endParaRPr/>
          </a:p>
          <a:p>
            <a:pPr marL="914400" lvl="1" indent="-277494" algn="l" rtl="0">
              <a:spcBef>
                <a:spcPts val="0"/>
              </a:spcBef>
              <a:spcAft>
                <a:spcPts val="0"/>
              </a:spcAft>
              <a:buSzPct val="100000"/>
              <a:buChar char="○"/>
            </a:pPr>
            <a:r>
              <a:rPr lang="it">
                <a:highlight>
                  <a:srgbClr val="B7B7B7"/>
                </a:highlight>
                <a:latin typeface="Courier New"/>
                <a:ea typeface="Courier New"/>
                <a:cs typeface="Courier New"/>
                <a:sym typeface="Courier New"/>
              </a:rPr>
              <a:t>channel.of</a:t>
            </a:r>
            <a:r>
              <a:rPr lang="it"/>
              <a:t>(string, value, …, list_of_things) → this is the most simple way to create a channel with emissions; here each value will be a single emission</a:t>
            </a:r>
            <a:endParaRPr/>
          </a:p>
          <a:p>
            <a:pPr marL="1371600" lvl="2" indent="-277494" algn="l" rtl="0">
              <a:spcBef>
                <a:spcPts val="0"/>
              </a:spcBef>
              <a:spcAft>
                <a:spcPts val="0"/>
              </a:spcAft>
              <a:buSzPct val="100000"/>
              <a:buChar char="■"/>
            </a:pPr>
            <a:r>
              <a:rPr lang="it"/>
              <a:t>You can be creative: elements can be anything (strings, numbers, maps, lists…)</a:t>
            </a:r>
            <a:endParaRPr/>
          </a:p>
          <a:p>
            <a:pPr marL="914400" lvl="1" indent="-277494" algn="l" rtl="0">
              <a:spcBef>
                <a:spcPts val="0"/>
              </a:spcBef>
              <a:spcAft>
                <a:spcPts val="0"/>
              </a:spcAft>
              <a:buSzPct val="100000"/>
              <a:buFont typeface="Courier New"/>
              <a:buChar char="○"/>
            </a:pPr>
            <a:r>
              <a:rPr lang="it">
                <a:highlight>
                  <a:srgbClr val="B7B7B7"/>
                </a:highlight>
                <a:latin typeface="Courier New"/>
                <a:ea typeface="Courier New"/>
                <a:cs typeface="Courier New"/>
                <a:sym typeface="Courier New"/>
              </a:rPr>
              <a:t>channel.fromPath(/path/to/file/to/read.txt)</a:t>
            </a:r>
            <a:r>
              <a:rPr lang="it"/>
              <a:t>: this will create a channel with a given file as emission → the file will not be treated as a string but as a file object which allows you to read it later using operators</a:t>
            </a:r>
            <a:endParaRPr/>
          </a:p>
          <a:p>
            <a:pPr marL="1371600" lvl="2" indent="-277494" algn="l" rtl="0">
              <a:spcBef>
                <a:spcPts val="0"/>
              </a:spcBef>
              <a:spcAft>
                <a:spcPts val="0"/>
              </a:spcAft>
              <a:buSzPct val="100000"/>
              <a:buChar char="■"/>
            </a:pPr>
            <a:r>
              <a:rPr lang="it"/>
              <a:t>You can be creative also here, creating emission with list of files</a:t>
            </a:r>
            <a:endParaRPr/>
          </a:p>
          <a:p>
            <a:pPr marL="1371600" lvl="2" indent="-277494" algn="l" rtl="0">
              <a:spcBef>
                <a:spcPts val="0"/>
              </a:spcBef>
              <a:spcAft>
                <a:spcPts val="0"/>
              </a:spcAft>
              <a:buSzPct val="100000"/>
              <a:buChar char="■"/>
            </a:pPr>
            <a:r>
              <a:rPr lang="it"/>
              <a:t>You can use Bash wildcards to match different files:</a:t>
            </a:r>
            <a:endParaRPr/>
          </a:p>
          <a:p>
            <a:pPr marL="1828800" lvl="3" indent="-277494" algn="l" rtl="0">
              <a:spcBef>
                <a:spcPts val="0"/>
              </a:spcBef>
              <a:spcAft>
                <a:spcPts val="0"/>
              </a:spcAft>
              <a:buSzPct val="100000"/>
              <a:buChar char="●"/>
            </a:pPr>
            <a:r>
              <a:rPr lang="it">
                <a:highlight>
                  <a:srgbClr val="B7B7B7"/>
                </a:highlight>
                <a:latin typeface="Courier New"/>
                <a:ea typeface="Courier New"/>
                <a:cs typeface="Courier New"/>
                <a:sym typeface="Courier New"/>
              </a:rPr>
              <a:t>*</a:t>
            </a:r>
            <a:r>
              <a:rPr lang="it"/>
              <a:t> will match any character</a:t>
            </a:r>
            <a:endParaRPr/>
          </a:p>
          <a:p>
            <a:pPr marL="1828800" lvl="3" indent="-277494" algn="l" rtl="0">
              <a:spcBef>
                <a:spcPts val="0"/>
              </a:spcBef>
              <a:spcAft>
                <a:spcPts val="0"/>
              </a:spcAft>
              <a:buSzPct val="100000"/>
              <a:buChar char="●"/>
            </a:pPr>
            <a:r>
              <a:rPr lang="it">
                <a:highlight>
                  <a:srgbClr val="B7B7B7"/>
                </a:highlight>
                <a:latin typeface="Courier New"/>
                <a:ea typeface="Courier New"/>
                <a:cs typeface="Courier New"/>
                <a:sym typeface="Courier New"/>
              </a:rPr>
              <a:t>**</a:t>
            </a:r>
            <a:r>
              <a:rPr lang="it"/>
              <a:t> will look recursively in the specified dir → be careful with large directories</a:t>
            </a:r>
            <a:endParaRPr/>
          </a:p>
          <a:p>
            <a:pPr marL="1828800" lvl="3" indent="-277494" algn="l" rtl="0">
              <a:spcBef>
                <a:spcPts val="0"/>
              </a:spcBef>
              <a:spcAft>
                <a:spcPts val="0"/>
              </a:spcAft>
              <a:buSzPct val="100000"/>
              <a:buChar char="●"/>
            </a:pPr>
            <a:r>
              <a:rPr lang="it">
                <a:highlight>
                  <a:srgbClr val="B7B7B7"/>
                </a:highlight>
                <a:latin typeface="Courier New"/>
                <a:ea typeface="Courier New"/>
                <a:cs typeface="Courier New"/>
                <a:sym typeface="Courier New"/>
              </a:rPr>
              <a:t>{1,2}</a:t>
            </a:r>
            <a:r>
              <a:rPr lang="it"/>
              <a:t> will look for either “1” or “2” in the given expression</a:t>
            </a:r>
            <a:endParaRPr/>
          </a:p>
          <a:p>
            <a:pPr marL="1828800" lvl="3" indent="-277494" algn="l" rtl="0">
              <a:spcBef>
                <a:spcPts val="0"/>
              </a:spcBef>
              <a:spcAft>
                <a:spcPts val="0"/>
              </a:spcAft>
              <a:buSzPct val="100000"/>
              <a:buChar char="●"/>
            </a:pPr>
            <a:r>
              <a:rPr lang="it"/>
              <a:t>Hidden files are excluded from the search</a:t>
            </a:r>
            <a:endParaRPr/>
          </a:p>
          <a:p>
            <a:pPr marL="914400" lvl="1" indent="-277494" algn="l" rtl="0">
              <a:spcBef>
                <a:spcPts val="0"/>
              </a:spcBef>
              <a:spcAft>
                <a:spcPts val="0"/>
              </a:spcAft>
              <a:buSzPct val="100000"/>
              <a:buChar char="○"/>
            </a:pPr>
            <a:r>
              <a:rPr lang="it"/>
              <a:t>Operators: using operators on a channel will create one or more channels</a:t>
            </a:r>
            <a:endParaRPr/>
          </a:p>
          <a:p>
            <a:pPr marL="914400" lvl="1" indent="-277494" algn="l" rtl="0">
              <a:spcBef>
                <a:spcPts val="0"/>
              </a:spcBef>
              <a:spcAft>
                <a:spcPts val="0"/>
              </a:spcAft>
              <a:buSzPct val="100000"/>
              <a:buChar char="○"/>
            </a:pPr>
            <a:r>
              <a:rPr lang="it"/>
              <a:t>Process output </a:t>
            </a:r>
            <a:r>
              <a:rPr lang="it">
                <a:highlight>
                  <a:srgbClr val="B7B7B7"/>
                </a:highlight>
                <a:latin typeface="Courier New"/>
                <a:ea typeface="Courier New"/>
                <a:cs typeface="Courier New"/>
                <a:sym typeface="Courier New"/>
              </a:rPr>
              <a:t>emit</a:t>
            </a:r>
            <a:r>
              <a:rPr lang="it"/>
              <a:t>: using this option on a given defined process output will create a channel</a:t>
            </a:r>
            <a:endParaRPr/>
          </a:p>
          <a:p>
            <a:pPr marL="457200" lvl="0" indent="-291465" algn="l" rtl="0">
              <a:spcBef>
                <a:spcPts val="0"/>
              </a:spcBef>
              <a:spcAft>
                <a:spcPts val="0"/>
              </a:spcAft>
              <a:buSzPct val="100000"/>
              <a:buChar char="●"/>
            </a:pPr>
            <a:r>
              <a:rPr lang="it"/>
              <a:t>There are other channel factories, have a look here → </a:t>
            </a:r>
            <a:r>
              <a:rPr lang="it" sz="1100" u="sng">
                <a:solidFill>
                  <a:schemeClr val="hlink"/>
                </a:solidFill>
                <a:hlinkClick r:id="rId3"/>
              </a:rPr>
              <a:t>Channel factories — Nextflow documentation</a:t>
            </a:r>
            <a:endParaRPr/>
          </a:p>
        </p:txBody>
      </p:sp>
      <p:pic>
        <p:nvPicPr>
          <p:cNvPr id="69" name="Google Shape;69;p15" descr="Make a nice illustration to summarise the main ways to create a channel in Nextflow according to these main points: There are multiple ways to create a channel:&#10;channel.empty: create and empty channel (e.g. with no emissions)&#10;channel.of(string, value, …, list_of_things) → this is the most simple way to create a channel with emissions; here each value will be a single emission&#10;You can be creative: elements can be anything (strings, numbers, maps, lists…)&#10;channel.fromPath(/path/to/file/to/read.txt): this will create a channel with a given file as emission → the file will not be treated as a string but as a file object which allows you to read it later using operators&#10;You can be creative also here, creating emission with list of files&#10;You can use Bash wildcards to match different files:&#10;* will match any character&#10;** will look recursively in the specified dir → be careful with large directories&#10;{1,2} will look for either “1” or “2” in the given expression&#10;Hidden files are excluded from the search&#10;Operators: using operators on a channel will create one or more channels&#10;Process output emit: using this option on a given defined process output will create a channel&#10;There are other channel factories, have a look here → Channel factories — Nextflow documentation"/>
          <p:cNvPicPr preferRelativeResize="0"/>
          <p:nvPr/>
        </p:nvPicPr>
        <p:blipFill>
          <a:blip r:embed="rId4">
            <a:alphaModFix/>
          </a:blip>
          <a:stretch>
            <a:fillRect/>
          </a:stretch>
        </p:blipFill>
        <p:spPr>
          <a:xfrm>
            <a:off x="4851825" y="943675"/>
            <a:ext cx="4138200" cy="4138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Working with channels: operators</a:t>
            </a:r>
            <a:endParaRPr/>
          </a:p>
        </p:txBody>
      </p:sp>
      <p:sp>
        <p:nvSpPr>
          <p:cNvPr id="75" name="Google Shape;75;p16"/>
          <p:cNvSpPr txBox="1">
            <a:spLocks noGrp="1"/>
          </p:cNvSpPr>
          <p:nvPr>
            <p:ph type="body" idx="1"/>
          </p:nvPr>
        </p:nvSpPr>
        <p:spPr>
          <a:xfrm>
            <a:off x="311700" y="1152475"/>
            <a:ext cx="4204500" cy="3416400"/>
          </a:xfrm>
          <a:prstGeom prst="rect">
            <a:avLst/>
          </a:prstGeom>
        </p:spPr>
        <p:txBody>
          <a:bodyPr spcFirstLastPara="1" wrap="square" lIns="91425" tIns="91425" rIns="91425" bIns="91425" anchor="t" anchorCtr="0">
            <a:normAutofit fontScale="70000" lnSpcReduction="20000"/>
          </a:bodyPr>
          <a:lstStyle/>
          <a:p>
            <a:pPr marL="457200" lvl="0" indent="-308610" algn="l" rtl="0">
              <a:spcBef>
                <a:spcPts val="0"/>
              </a:spcBef>
              <a:spcAft>
                <a:spcPts val="0"/>
              </a:spcAft>
              <a:buSzPct val="100000"/>
              <a:buChar char="●"/>
            </a:pPr>
            <a:r>
              <a:rPr lang="it"/>
              <a:t>In more complex (and realistic) scenarios, you don’t simply pass a file from a process to the next one</a:t>
            </a:r>
            <a:endParaRPr/>
          </a:p>
          <a:p>
            <a:pPr marL="914400" lvl="1" indent="-290830" algn="l" rtl="0">
              <a:spcBef>
                <a:spcPts val="0"/>
              </a:spcBef>
              <a:spcAft>
                <a:spcPts val="0"/>
              </a:spcAft>
              <a:buSzPct val="100000"/>
              <a:buChar char="○"/>
            </a:pPr>
            <a:r>
              <a:rPr lang="it"/>
              <a:t>You may need to select specific files, group files by sample/condition/metadata, divide them into categories etc.</a:t>
            </a:r>
            <a:endParaRPr/>
          </a:p>
          <a:p>
            <a:pPr marL="457200" lvl="0" indent="-308610" algn="l" rtl="0">
              <a:spcBef>
                <a:spcPts val="0"/>
              </a:spcBef>
              <a:spcAft>
                <a:spcPts val="0"/>
              </a:spcAft>
              <a:buSzPct val="100000"/>
              <a:buChar char="●"/>
            </a:pPr>
            <a:r>
              <a:rPr lang="it"/>
              <a:t>In Nextflow, you can apply functions to channels to </a:t>
            </a:r>
            <a:r>
              <a:rPr lang="it" b="1"/>
              <a:t>change the content of</a:t>
            </a:r>
            <a:r>
              <a:rPr lang="it"/>
              <a:t> </a:t>
            </a:r>
            <a:r>
              <a:rPr lang="it" b="1"/>
              <a:t>each emission</a:t>
            </a:r>
            <a:r>
              <a:rPr lang="it"/>
              <a:t>: these functions are called </a:t>
            </a:r>
            <a:r>
              <a:rPr lang="it">
                <a:highlight>
                  <a:srgbClr val="B7B7B7"/>
                </a:highlight>
                <a:latin typeface="Courier New"/>
                <a:ea typeface="Courier New"/>
                <a:cs typeface="Courier New"/>
                <a:sym typeface="Courier New"/>
              </a:rPr>
              <a:t>operators</a:t>
            </a:r>
            <a:endParaRPr>
              <a:highlight>
                <a:srgbClr val="B7B7B7"/>
              </a:highlight>
              <a:latin typeface="Courier New"/>
              <a:ea typeface="Courier New"/>
              <a:cs typeface="Courier New"/>
              <a:sym typeface="Courier New"/>
            </a:endParaRPr>
          </a:p>
          <a:p>
            <a:pPr marL="457200" lvl="0" indent="-308610" algn="l" rtl="0">
              <a:spcBef>
                <a:spcPts val="0"/>
              </a:spcBef>
              <a:spcAft>
                <a:spcPts val="0"/>
              </a:spcAft>
              <a:buSzPct val="100000"/>
              <a:buChar char="●"/>
            </a:pPr>
            <a:r>
              <a:rPr lang="it"/>
              <a:t>There are many different </a:t>
            </a:r>
            <a:r>
              <a:rPr lang="it">
                <a:highlight>
                  <a:srgbClr val="B7B7B7"/>
                </a:highlight>
                <a:latin typeface="Courier New"/>
                <a:ea typeface="Courier New"/>
                <a:cs typeface="Courier New"/>
                <a:sym typeface="Courier New"/>
              </a:rPr>
              <a:t>operators</a:t>
            </a:r>
            <a:r>
              <a:rPr lang="it"/>
              <a:t> and learning how to play and be creative with them is what will make you one day a Nextflow hero</a:t>
            </a:r>
            <a:endParaRPr/>
          </a:p>
          <a:p>
            <a:pPr marL="457200" lvl="0" indent="-308610" algn="l" rtl="0">
              <a:spcBef>
                <a:spcPts val="0"/>
              </a:spcBef>
              <a:spcAft>
                <a:spcPts val="0"/>
              </a:spcAft>
              <a:buSzPct val="100000"/>
              <a:buChar char="●"/>
            </a:pPr>
            <a:r>
              <a:rPr lang="it"/>
              <a:t>Since operators are functions, they have options or you can pass custom function (</a:t>
            </a:r>
            <a:r>
              <a:rPr lang="it" b="1"/>
              <a:t>closures</a:t>
            </a:r>
            <a:r>
              <a:rPr lang="it"/>
              <a:t>) to them</a:t>
            </a:r>
            <a:endParaRPr/>
          </a:p>
          <a:p>
            <a:pPr marL="457200" lvl="0" indent="-308610" algn="l" rtl="0">
              <a:spcBef>
                <a:spcPts val="0"/>
              </a:spcBef>
              <a:spcAft>
                <a:spcPts val="0"/>
              </a:spcAft>
              <a:buSzPct val="100000"/>
              <a:buChar char="●"/>
            </a:pPr>
            <a:r>
              <a:rPr lang="it"/>
              <a:t>You can find here the list of all the possible operators → </a:t>
            </a:r>
            <a:r>
              <a:rPr lang="it" sz="1100" u="sng">
                <a:solidFill>
                  <a:schemeClr val="hlink"/>
                </a:solidFill>
                <a:hlinkClick r:id="rId3"/>
              </a:rPr>
              <a:t>Operators — Nextflow documentation</a:t>
            </a:r>
            <a:endParaRPr/>
          </a:p>
        </p:txBody>
      </p:sp>
      <p:pic>
        <p:nvPicPr>
          <p:cNvPr id="76" name="Google Shape;76;p16" descr="Create a nice illustration to summarise the main channel operators available in Nextflow according to these main points: In more complex (and realistic) scenarios, you don’t simply pass a file from a process to the next one&#10;You may need to select specific files, group files by sample/condition/metadata, divide them into categories etc.&#10;In Nextflow, you can apply functions to channels to change the content of each emission: these functions are called operators&#10;There are many different operators and learning how to play and be creative with them is what will make you one day a Nextflow hero&#10;Since operators are functions, they have options or you can pass custom function (closures) to them&#10;You can find here the list of all the possible operators → Operators — Nextflow documentation"/>
          <p:cNvPicPr preferRelativeResize="0"/>
          <p:nvPr/>
        </p:nvPicPr>
        <p:blipFill>
          <a:blip r:embed="rId4">
            <a:alphaModFix/>
          </a:blip>
          <a:stretch>
            <a:fillRect/>
          </a:stretch>
        </p:blipFill>
        <p:spPr>
          <a:xfrm>
            <a:off x="4778625" y="1088800"/>
            <a:ext cx="4092700" cy="3755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Closures: custom unnamed functions</a:t>
            </a:r>
            <a:endParaRPr/>
          </a:p>
        </p:txBody>
      </p:sp>
      <p:sp>
        <p:nvSpPr>
          <p:cNvPr id="82" name="Google Shape;82;p17"/>
          <p:cNvSpPr txBox="1">
            <a:spLocks noGrp="1"/>
          </p:cNvSpPr>
          <p:nvPr>
            <p:ph type="body" idx="1"/>
          </p:nvPr>
        </p:nvSpPr>
        <p:spPr>
          <a:xfrm>
            <a:off x="311700" y="1152475"/>
            <a:ext cx="4868700" cy="34164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00000"/>
              <a:buChar char="●"/>
            </a:pPr>
            <a:r>
              <a:rPr lang="it"/>
              <a:t>Closure are functions that you don’t assign to a variable</a:t>
            </a:r>
            <a:endParaRPr/>
          </a:p>
          <a:p>
            <a:pPr marL="914400" lvl="1" indent="-304165" algn="l" rtl="0">
              <a:spcBef>
                <a:spcPts val="0"/>
              </a:spcBef>
              <a:spcAft>
                <a:spcPts val="0"/>
              </a:spcAft>
              <a:buSzPct val="100000"/>
              <a:buChar char="○"/>
            </a:pPr>
            <a:r>
              <a:rPr lang="it"/>
              <a:t>For those familiar with python, closure look like the python </a:t>
            </a:r>
            <a:r>
              <a:rPr lang="it">
                <a:highlight>
                  <a:srgbClr val="B7B7B7"/>
                </a:highlight>
                <a:latin typeface="Courier New"/>
                <a:ea typeface="Courier New"/>
                <a:cs typeface="Courier New"/>
                <a:sym typeface="Courier New"/>
              </a:rPr>
              <a:t>lambda</a:t>
            </a:r>
            <a:r>
              <a:rPr lang="it"/>
              <a:t> functions</a:t>
            </a:r>
            <a:endParaRPr/>
          </a:p>
          <a:p>
            <a:pPr marL="457200" lvl="0" indent="-325755" algn="l" rtl="0">
              <a:spcBef>
                <a:spcPts val="0"/>
              </a:spcBef>
              <a:spcAft>
                <a:spcPts val="0"/>
              </a:spcAft>
              <a:buSzPct val="100000"/>
              <a:buChar char="●"/>
            </a:pPr>
            <a:r>
              <a:rPr lang="it"/>
              <a:t>A closure is defined using the </a:t>
            </a:r>
            <a:r>
              <a:rPr lang="it">
                <a:highlight>
                  <a:srgbClr val="B7B7B7"/>
                </a:highlight>
                <a:latin typeface="Courier New"/>
                <a:ea typeface="Courier New"/>
                <a:cs typeface="Courier New"/>
                <a:sym typeface="Courier New"/>
              </a:rPr>
              <a:t>{my_input -&gt; some_code_here}</a:t>
            </a:r>
            <a:r>
              <a:rPr lang="it"/>
              <a:t> notation</a:t>
            </a:r>
            <a:endParaRPr/>
          </a:p>
          <a:p>
            <a:pPr marL="914400" lvl="1" indent="-304165" algn="l" rtl="0">
              <a:spcBef>
                <a:spcPts val="0"/>
              </a:spcBef>
              <a:spcAft>
                <a:spcPts val="0"/>
              </a:spcAft>
              <a:buSzPct val="100000"/>
              <a:buChar char="○"/>
            </a:pPr>
            <a:r>
              <a:rPr lang="it"/>
              <a:t>If your input is a list, you can unpack it: </a:t>
            </a:r>
            <a:r>
              <a:rPr lang="it">
                <a:highlight>
                  <a:srgbClr val="B7B7B7"/>
                </a:highlight>
                <a:latin typeface="Courier New"/>
                <a:ea typeface="Courier New"/>
                <a:cs typeface="Courier New"/>
                <a:sym typeface="Courier New"/>
              </a:rPr>
              <a:t>{fisrt_item, second_item -&gt; some_code_here}</a:t>
            </a:r>
            <a:endParaRPr>
              <a:highlight>
                <a:srgbClr val="B7B7B7"/>
              </a:highlight>
              <a:latin typeface="Courier New"/>
              <a:ea typeface="Courier New"/>
              <a:cs typeface="Courier New"/>
              <a:sym typeface="Courier New"/>
            </a:endParaRPr>
          </a:p>
          <a:p>
            <a:pPr marL="914400" lvl="1" indent="-304165" algn="l" rtl="0">
              <a:spcBef>
                <a:spcPts val="0"/>
              </a:spcBef>
              <a:spcAft>
                <a:spcPts val="0"/>
              </a:spcAft>
              <a:buSzPct val="100000"/>
              <a:buChar char="○"/>
            </a:pPr>
            <a:r>
              <a:rPr lang="it"/>
              <a:t>You can name your input variables as you like and you can use any piece of groovy and Nextflow code inside them</a:t>
            </a:r>
            <a:endParaRPr/>
          </a:p>
          <a:p>
            <a:pPr marL="457200" lvl="0" indent="-325755" algn="l" rtl="0">
              <a:spcBef>
                <a:spcPts val="0"/>
              </a:spcBef>
              <a:spcAft>
                <a:spcPts val="0"/>
              </a:spcAft>
              <a:buSzPct val="100000"/>
              <a:buChar char="●"/>
            </a:pPr>
            <a:r>
              <a:rPr lang="it"/>
              <a:t>Closures can be used in many places into Nextflow, here we will look at them specifically in operators but they can be used, for example, to define dynamical directives for the processes</a:t>
            </a:r>
            <a:endParaRPr/>
          </a:p>
          <a:p>
            <a:pPr marL="457200" lvl="0" indent="-325755" algn="l" rtl="0">
              <a:spcBef>
                <a:spcPts val="0"/>
              </a:spcBef>
              <a:spcAft>
                <a:spcPts val="0"/>
              </a:spcAft>
              <a:buSzPct val="100000"/>
              <a:buChar char="●"/>
            </a:pPr>
            <a:r>
              <a:rPr lang="it"/>
              <a:t>Full closure reference → </a:t>
            </a:r>
            <a:r>
              <a:rPr lang="it" sz="1100" u="sng">
                <a:solidFill>
                  <a:schemeClr val="hlink"/>
                </a:solidFill>
                <a:hlinkClick r:id="rId3"/>
              </a:rPr>
              <a:t>Scripts — Nextflow documentation</a:t>
            </a:r>
            <a:endParaRPr/>
          </a:p>
        </p:txBody>
      </p:sp>
      <p:pic>
        <p:nvPicPr>
          <p:cNvPr id="83" name="Google Shape;83;p17" descr="Make a nice illustration to represent the main concepts related to Nextflow closures according to these main points: Closure are functions that you don’t assign to a variable&#10;For those familiar with python, closure look like the python lambda functions&#10;A closure is defined using the {my_input -&gt; some_code_here} notation&#10;If your input is a list, you can unpack it: {fisrt_item, second_item -&gt; some_code_here}&#10;You can name your input variables as you like and you can use any piece of groovy and Nextflow code inside them&#10;Closures can be used in many places into Nextflow, here we will look at them specifically in operators but they can be used, for example, to define dynamical directives for the processes&#10;Full closure reference → Scripts — Nextflow documentation"/>
          <p:cNvPicPr preferRelativeResize="0"/>
          <p:nvPr/>
        </p:nvPicPr>
        <p:blipFill rotWithShape="1">
          <a:blip r:embed="rId4">
            <a:alphaModFix/>
          </a:blip>
          <a:srcRect b="14133"/>
          <a:stretch/>
        </p:blipFill>
        <p:spPr>
          <a:xfrm>
            <a:off x="5305850" y="1344350"/>
            <a:ext cx="3668125" cy="3149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body" idx="1"/>
          </p:nvPr>
        </p:nvSpPr>
        <p:spPr>
          <a:xfrm>
            <a:off x="311700" y="1152475"/>
            <a:ext cx="5215500" cy="3416400"/>
          </a:xfrm>
          <a:prstGeom prst="rect">
            <a:avLst/>
          </a:prstGeom>
        </p:spPr>
        <p:txBody>
          <a:bodyPr spcFirstLastPara="1" wrap="square" lIns="91425" tIns="91425" rIns="91425" bIns="91425" anchor="t" anchorCtr="0">
            <a:normAutofit fontScale="77500" lnSpcReduction="20000"/>
          </a:bodyPr>
          <a:lstStyle/>
          <a:p>
            <a:pPr marL="457200" lvl="0" indent="-317182" algn="l" rtl="0">
              <a:spcBef>
                <a:spcPts val="0"/>
              </a:spcBef>
              <a:spcAft>
                <a:spcPts val="0"/>
              </a:spcAft>
              <a:buSzPct val="128571"/>
              <a:buFont typeface="Courier New"/>
              <a:buChar char="●"/>
            </a:pPr>
            <a:r>
              <a:rPr lang="it" sz="1400">
                <a:highlight>
                  <a:srgbClr val="B7B7B7"/>
                </a:highlight>
                <a:latin typeface="Courier New"/>
                <a:ea typeface="Courier New"/>
                <a:cs typeface="Courier New"/>
                <a:sym typeface="Courier New"/>
              </a:rPr>
              <a:t>.view()</a:t>
            </a:r>
            <a:endParaRPr>
              <a:latin typeface="Courier New"/>
              <a:ea typeface="Courier New"/>
              <a:cs typeface="Courier New"/>
              <a:sym typeface="Courier New"/>
            </a:endParaRPr>
          </a:p>
          <a:p>
            <a:pPr marL="914400" lvl="1" indent="-297497" algn="l" rtl="0">
              <a:spcBef>
                <a:spcPts val="0"/>
              </a:spcBef>
              <a:spcAft>
                <a:spcPts val="0"/>
              </a:spcAft>
              <a:buSzPct val="100000"/>
              <a:buChar char="○"/>
            </a:pPr>
            <a:r>
              <a:rPr lang="it"/>
              <a:t>used to inspect each emission of a channel</a:t>
            </a:r>
            <a:endParaRPr/>
          </a:p>
          <a:p>
            <a:pPr marL="914400" lvl="1" indent="-297497" algn="l" rtl="0">
              <a:spcBef>
                <a:spcPts val="0"/>
              </a:spcBef>
              <a:spcAft>
                <a:spcPts val="0"/>
              </a:spcAft>
              <a:buSzPct val="100000"/>
              <a:buChar char="○"/>
            </a:pPr>
            <a:r>
              <a:rPr lang="it"/>
              <a:t>a closure can be used to customize the visualization output</a:t>
            </a:r>
            <a:endParaRPr/>
          </a:p>
          <a:p>
            <a:pPr marL="457200" lvl="0" indent="-317182" algn="l" rtl="0">
              <a:spcBef>
                <a:spcPts val="0"/>
              </a:spcBef>
              <a:spcAft>
                <a:spcPts val="0"/>
              </a:spcAft>
              <a:buSzPct val="128571"/>
              <a:buChar char="●"/>
            </a:pPr>
            <a:r>
              <a:rPr lang="it" sz="1400">
                <a:highlight>
                  <a:srgbClr val="B7B7B7"/>
                </a:highlight>
                <a:latin typeface="Courier New"/>
                <a:ea typeface="Courier New"/>
                <a:cs typeface="Courier New"/>
                <a:sym typeface="Courier New"/>
              </a:rPr>
              <a:t>.count()</a:t>
            </a:r>
            <a:r>
              <a:rPr lang="it" sz="1400"/>
              <a:t>: count the number of the emission → from n emission to a single one</a:t>
            </a:r>
            <a:endParaRPr sz="1400"/>
          </a:p>
          <a:p>
            <a:pPr marL="457200" lvl="0" indent="-297497" algn="l" rtl="0">
              <a:spcBef>
                <a:spcPts val="0"/>
              </a:spcBef>
              <a:spcAft>
                <a:spcPts val="0"/>
              </a:spcAft>
              <a:buSzPct val="100000"/>
              <a:buChar char="●"/>
            </a:pPr>
            <a:r>
              <a:rPr lang="it" sz="1400">
                <a:highlight>
                  <a:srgbClr val="B7B7B7"/>
                </a:highlight>
                <a:latin typeface="Courier New"/>
                <a:ea typeface="Courier New"/>
                <a:cs typeface="Courier New"/>
                <a:sym typeface="Courier New"/>
              </a:rPr>
              <a:t>.mix()</a:t>
            </a:r>
            <a:r>
              <a:rPr lang="it" sz="1400"/>
              <a:t>: mix together the emissions coming from two channels → from 2 channels to 1</a:t>
            </a:r>
            <a:endParaRPr sz="1400"/>
          </a:p>
          <a:p>
            <a:pPr marL="457200" lvl="0" indent="-317182" algn="l" rtl="0">
              <a:spcBef>
                <a:spcPts val="0"/>
              </a:spcBef>
              <a:spcAft>
                <a:spcPts val="0"/>
              </a:spcAft>
              <a:buSzPct val="128571"/>
              <a:buChar char="●"/>
            </a:pPr>
            <a:r>
              <a:rPr lang="it" sz="1400">
                <a:highlight>
                  <a:srgbClr val="B7B7B7"/>
                </a:highlight>
              </a:rPr>
              <a:t>.</a:t>
            </a:r>
            <a:r>
              <a:rPr lang="it" sz="1400">
                <a:highlight>
                  <a:srgbClr val="B7B7B7"/>
                </a:highlight>
                <a:latin typeface="Courier New"/>
                <a:ea typeface="Courier New"/>
                <a:cs typeface="Courier New"/>
                <a:sym typeface="Courier New"/>
              </a:rPr>
              <a:t>splitCsv()</a:t>
            </a:r>
            <a:endParaRPr/>
          </a:p>
          <a:p>
            <a:pPr marL="914400" lvl="1" indent="-297497" algn="l" rtl="0">
              <a:spcBef>
                <a:spcPts val="0"/>
              </a:spcBef>
              <a:spcAft>
                <a:spcPts val="0"/>
              </a:spcAft>
              <a:buSzPct val="100000"/>
              <a:buChar char="○"/>
            </a:pPr>
            <a:r>
              <a:rPr lang="it"/>
              <a:t>The operator takes a single emission (a csv file) and:</a:t>
            </a:r>
            <a:endParaRPr/>
          </a:p>
          <a:p>
            <a:pPr marL="1371600" lvl="2" indent="-297497" algn="l" rtl="0">
              <a:spcBef>
                <a:spcPts val="0"/>
              </a:spcBef>
              <a:spcAft>
                <a:spcPts val="0"/>
              </a:spcAft>
              <a:buSzPct val="100000"/>
              <a:buChar char="■"/>
            </a:pPr>
            <a:r>
              <a:rPr lang="it"/>
              <a:t>create a number of emissions equal to the number of rows in the file</a:t>
            </a:r>
            <a:endParaRPr/>
          </a:p>
          <a:p>
            <a:pPr marL="1371600" lvl="2" indent="-297497" algn="l" rtl="0">
              <a:spcBef>
                <a:spcPts val="0"/>
              </a:spcBef>
              <a:spcAft>
                <a:spcPts val="0"/>
              </a:spcAft>
              <a:buSzPct val="100000"/>
              <a:buChar char="■"/>
            </a:pPr>
            <a:r>
              <a:rPr lang="it"/>
              <a:t>split the row string into elements using the “,”</a:t>
            </a:r>
            <a:endParaRPr/>
          </a:p>
          <a:p>
            <a:pPr marL="1371600" lvl="2" indent="-297497" algn="l" rtl="0">
              <a:spcBef>
                <a:spcPts val="0"/>
              </a:spcBef>
              <a:spcAft>
                <a:spcPts val="0"/>
              </a:spcAft>
              <a:buSzPct val="100000"/>
              <a:buChar char="■"/>
            </a:pPr>
            <a:r>
              <a:rPr lang="it"/>
              <a:t>The resulting emission is a list of elements → each element is a field of the csv</a:t>
            </a:r>
            <a:endParaRPr/>
          </a:p>
          <a:p>
            <a:pPr marL="914400" lvl="1" indent="-297497" algn="l" rtl="0">
              <a:spcBef>
                <a:spcPts val="0"/>
              </a:spcBef>
              <a:spcAft>
                <a:spcPts val="0"/>
              </a:spcAft>
              <a:buSzPct val="100000"/>
              <a:buChar char="○"/>
            </a:pPr>
            <a:r>
              <a:rPr lang="it"/>
              <a:t>The .</a:t>
            </a:r>
            <a:r>
              <a:rPr lang="it">
                <a:highlight>
                  <a:srgbClr val="B7B7B7"/>
                </a:highlight>
                <a:latin typeface="Courier New"/>
                <a:ea typeface="Courier New"/>
                <a:cs typeface="Courier New"/>
                <a:sym typeface="Courier New"/>
              </a:rPr>
              <a:t>splitCsv()</a:t>
            </a:r>
            <a:r>
              <a:rPr lang="it"/>
              <a:t> operator have the </a:t>
            </a:r>
            <a:r>
              <a:rPr lang="it">
                <a:highlight>
                  <a:srgbClr val="B7B7B7"/>
                </a:highlight>
                <a:latin typeface="Courier New"/>
                <a:ea typeface="Courier New"/>
                <a:cs typeface="Courier New"/>
                <a:sym typeface="Courier New"/>
              </a:rPr>
              <a:t>header</a:t>
            </a:r>
            <a:r>
              <a:rPr lang="it"/>
              <a:t> option (boolean)</a:t>
            </a:r>
            <a:endParaRPr/>
          </a:p>
          <a:p>
            <a:pPr marL="1371600" lvl="2" indent="-297497" algn="l" rtl="0">
              <a:spcBef>
                <a:spcPts val="0"/>
              </a:spcBef>
              <a:spcAft>
                <a:spcPts val="0"/>
              </a:spcAft>
              <a:buSzPct val="100000"/>
              <a:buChar char="■"/>
            </a:pPr>
            <a:r>
              <a:rPr lang="it"/>
              <a:t>If true, instead of a list of fields it is returned a map using the header for defining the keys</a:t>
            </a:r>
            <a:endParaRPr/>
          </a:p>
          <a:p>
            <a:pPr marL="457200" lvl="0" indent="-317182" algn="l" rtl="0">
              <a:spcBef>
                <a:spcPts val="0"/>
              </a:spcBef>
              <a:spcAft>
                <a:spcPts val="0"/>
              </a:spcAft>
              <a:buSzPct val="128571"/>
              <a:buChar char="●"/>
            </a:pPr>
            <a:r>
              <a:rPr lang="it" sz="1400">
                <a:highlight>
                  <a:srgbClr val="B7B7B7"/>
                </a:highlight>
              </a:rPr>
              <a:t>.</a:t>
            </a:r>
            <a:r>
              <a:rPr lang="it" sz="1400">
                <a:highlight>
                  <a:srgbClr val="B7B7B7"/>
                </a:highlight>
                <a:latin typeface="Courier New"/>
                <a:ea typeface="Courier New"/>
                <a:cs typeface="Courier New"/>
                <a:sym typeface="Courier New"/>
              </a:rPr>
              <a:t>map()</a:t>
            </a:r>
            <a:r>
              <a:rPr lang="it" sz="1400"/>
              <a:t>: apply a custom function (have fun with closures!) to each emission</a:t>
            </a:r>
            <a:endParaRPr/>
          </a:p>
        </p:txBody>
      </p:sp>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Basic operators: .view(), .count(), .mix(), .splitCsv(), .map()</a:t>
            </a:r>
            <a:endParaRPr/>
          </a:p>
        </p:txBody>
      </p:sp>
      <p:pic>
        <p:nvPicPr>
          <p:cNvPr id="90" name="Google Shape;90;p18" descr="Make a nice illustration to summarise the main channel operators of Nextflow according to these main points: .view()&#10;used to inspect each emission of a channel&#10;a closure can be used to customize the visualization output&#10;.count(): count the number of the emission → from n emission to a single one&#10;.mix(): mix together the emissions coming from two channels → from 2 channels to 1&#10;.splitCsv()&#10;The operator takes a single emission (a csv file) and:&#10;create a number of emissions equal to the number of rows in the file&#10;split the row string into elements using the “,”&#10;The resulting emission is a list of elements → each element is a field of the csv&#10;The .splitCsv() operator have the header option (boolean)&#10;If true, instead of a list of fields it is returned a map using the header for defining the keys&#10;.map(): apply a custom function (have fun with closures!) to each emission"/>
          <p:cNvPicPr preferRelativeResize="0"/>
          <p:nvPr/>
        </p:nvPicPr>
        <p:blipFill>
          <a:blip r:embed="rId3">
            <a:alphaModFix/>
          </a:blip>
          <a:stretch>
            <a:fillRect/>
          </a:stretch>
        </p:blipFill>
        <p:spPr>
          <a:xfrm>
            <a:off x="5492100" y="1152475"/>
            <a:ext cx="3555100" cy="3555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Create your initial channel from a csv/tsv file</a:t>
            </a:r>
            <a:endParaRPr/>
          </a:p>
        </p:txBody>
      </p:sp>
      <p:sp>
        <p:nvSpPr>
          <p:cNvPr id="96" name="Google Shape;96;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A very typical scenario in bioinformatics is to create a channel starting from an input file, generally in csv or tsv format</a:t>
            </a:r>
            <a:endParaRPr/>
          </a:p>
          <a:p>
            <a:pPr marL="914400" lvl="1" indent="-317500" algn="l" rtl="0">
              <a:spcBef>
                <a:spcPts val="0"/>
              </a:spcBef>
              <a:spcAft>
                <a:spcPts val="0"/>
              </a:spcAft>
              <a:buSzPts val="1400"/>
              <a:buChar char="○"/>
            </a:pPr>
            <a:r>
              <a:rPr lang="it"/>
              <a:t>By using a the </a:t>
            </a:r>
            <a:r>
              <a:rPr lang="it">
                <a:highlight>
                  <a:srgbClr val="B7B7B7"/>
                </a:highlight>
                <a:latin typeface="Courier New"/>
                <a:ea typeface="Courier New"/>
                <a:cs typeface="Courier New"/>
                <a:sym typeface="Courier New"/>
              </a:rPr>
              <a:t>channel.fromPath</a:t>
            </a:r>
            <a:r>
              <a:rPr lang="it"/>
              <a:t> channel factory and few operators you can have your input set up and ready to be used in your processes</a:t>
            </a:r>
            <a:endParaRPr/>
          </a:p>
          <a:p>
            <a:pPr marL="457200" lvl="0" indent="-342900" algn="l" rtl="0">
              <a:spcBef>
                <a:spcPts val="0"/>
              </a:spcBef>
              <a:spcAft>
                <a:spcPts val="0"/>
              </a:spcAft>
              <a:buSzPts val="1800"/>
              <a:buChar char="●"/>
            </a:pPr>
            <a:r>
              <a:rPr lang="it"/>
              <a:t>You will need 2 operators to achieve that result:</a:t>
            </a:r>
            <a:endParaRPr/>
          </a:p>
          <a:p>
            <a:pPr marL="914400" lvl="1" indent="-317500" algn="l" rtl="0">
              <a:spcBef>
                <a:spcPts val="0"/>
              </a:spcBef>
              <a:spcAft>
                <a:spcPts val="0"/>
              </a:spcAft>
              <a:buSzPts val="1400"/>
              <a:buChar char="○"/>
            </a:pPr>
            <a:r>
              <a:rPr lang="it"/>
              <a:t>.splitCsv() → used to read the csv file</a:t>
            </a:r>
            <a:endParaRPr/>
          </a:p>
          <a:p>
            <a:pPr marL="914400" lvl="1" indent="-317500" algn="l" rtl="0">
              <a:spcBef>
                <a:spcPts val="0"/>
              </a:spcBef>
              <a:spcAft>
                <a:spcPts val="0"/>
              </a:spcAft>
              <a:buSzPts val="1400"/>
              <a:buChar char="○"/>
            </a:pPr>
            <a:r>
              <a:rPr lang="it"/>
              <a:t>.map() → used to rearrange the file content to have the emission customized to your needs</a:t>
            </a:r>
            <a:endParaRPr/>
          </a:p>
          <a:p>
            <a:pPr marL="457200" lvl="0" indent="-342900" algn="l" rtl="0">
              <a:spcBef>
                <a:spcPts val="0"/>
              </a:spcBef>
              <a:spcAft>
                <a:spcPts val="0"/>
              </a:spcAft>
              <a:buSzPts val="1800"/>
              <a:buChar char="●"/>
            </a:pPr>
            <a:r>
              <a:rPr lang="it"/>
              <a:t>Tip: for complex workflows, be consistent on your channel/emission structure!</a:t>
            </a:r>
            <a:endParaRPr/>
          </a:p>
          <a:p>
            <a:pPr marL="914400" lvl="1" indent="-317500" algn="l" rtl="0">
              <a:spcBef>
                <a:spcPts val="0"/>
              </a:spcBef>
              <a:spcAft>
                <a:spcPts val="0"/>
              </a:spcAft>
              <a:buSzPts val="1400"/>
              <a:buChar char="○"/>
            </a:pPr>
            <a:r>
              <a:rPr lang="it"/>
              <a:t>Usually, channel emissions will be tuples of elements where the first one is collecting your metadata and all the others will be files linked to that metadata</a:t>
            </a:r>
            <a:endParaRPr/>
          </a:p>
          <a:p>
            <a:pPr marL="1371600" lvl="2" indent="-317500" algn="l" rtl="0">
              <a:spcBef>
                <a:spcPts val="0"/>
              </a:spcBef>
              <a:spcAft>
                <a:spcPts val="0"/>
              </a:spcAft>
              <a:buSzPts val="1400"/>
              <a:buChar char="■"/>
            </a:pPr>
            <a:r>
              <a:rPr lang="it">
                <a:highlight>
                  <a:srgbClr val="B7B7B7"/>
                </a:highlight>
                <a:latin typeface="Courier New"/>
                <a:ea typeface="Courier New"/>
                <a:cs typeface="Courier New"/>
                <a:sym typeface="Courier New"/>
              </a:rPr>
              <a:t>tuple(meta, file_1, file_2, … file_n)</a:t>
            </a:r>
            <a:endParaRPr>
              <a:highlight>
                <a:srgbClr val="B7B7B7"/>
              </a:highlight>
              <a:latin typeface="Courier New"/>
              <a:ea typeface="Courier New"/>
              <a:cs typeface="Courier New"/>
              <a:sym typeface="Courier New"/>
            </a:endParaRPr>
          </a:p>
          <a:p>
            <a:pPr marL="1371600" lvl="2" indent="-317500" algn="l" rtl="0">
              <a:spcBef>
                <a:spcPts val="0"/>
              </a:spcBef>
              <a:spcAft>
                <a:spcPts val="0"/>
              </a:spcAft>
              <a:buSzPts val="1400"/>
              <a:buChar char="■"/>
            </a:pPr>
            <a:r>
              <a:rPr lang="it"/>
              <a:t>The element to collect the metadata can be a list or, better, a map (dictionary)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Let’s get our hands dirty!</a:t>
            </a:r>
            <a:endParaRPr/>
          </a:p>
        </p:txBody>
      </p:sp>
      <p:sp>
        <p:nvSpPr>
          <p:cNvPr id="102" name="Google Shape;102;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dirty="0"/>
              <a:t>You will find this first batch of exercises in the repository at the following path: </a:t>
            </a:r>
            <a:r>
              <a:rPr lang="it" dirty="0">
                <a:highlight>
                  <a:srgbClr val="B7B7B7"/>
                </a:highlight>
                <a:latin typeface="Courier New"/>
                <a:ea typeface="Courier New"/>
                <a:cs typeface="Courier New"/>
                <a:sym typeface="Courier New"/>
              </a:rPr>
              <a:t>practicals/day1/2_basic_workflow/</a:t>
            </a:r>
            <a:endParaRPr dirty="0">
              <a:highlight>
                <a:srgbClr val="B7B7B7"/>
              </a:highlight>
              <a:latin typeface="Courier New"/>
              <a:ea typeface="Courier New"/>
              <a:cs typeface="Courier New"/>
              <a:sym typeface="Courier New"/>
            </a:endParaRPr>
          </a:p>
          <a:p>
            <a:pPr marL="914400" lvl="1" indent="-317500" algn="l" rtl="0">
              <a:spcBef>
                <a:spcPts val="0"/>
              </a:spcBef>
              <a:spcAft>
                <a:spcPts val="0"/>
              </a:spcAft>
              <a:buSzPts val="1400"/>
              <a:buChar char="○"/>
            </a:pPr>
            <a:r>
              <a:rPr lang="it" dirty="0"/>
              <a:t>Here you will find a README with your exercises</a:t>
            </a:r>
            <a:endParaRPr dirty="0"/>
          </a:p>
          <a:p>
            <a:pPr marL="1371600" lvl="2" indent="-317500" algn="l" rtl="0">
              <a:spcBef>
                <a:spcPts val="0"/>
              </a:spcBef>
              <a:spcAft>
                <a:spcPts val="0"/>
              </a:spcAft>
              <a:buSzPts val="1400"/>
              <a:buChar char="■"/>
            </a:pPr>
            <a:r>
              <a:rPr lang="it" dirty="0"/>
              <a:t>For each exercise, you will find a “initialised” version of the task if you need some hint and the solution</a:t>
            </a:r>
            <a:endParaRPr dirty="0"/>
          </a:p>
          <a:p>
            <a:pPr marL="914400" lvl="1" indent="-317500" algn="l" rtl="0">
              <a:spcBef>
                <a:spcPts val="0"/>
              </a:spcBef>
              <a:spcAft>
                <a:spcPts val="0"/>
              </a:spcAft>
              <a:buSzPts val="1400"/>
              <a:buChar char="○"/>
            </a:pPr>
            <a:r>
              <a:rPr lang="it" dirty="0"/>
              <a:t>The input files needed are located in that directory</a:t>
            </a:r>
            <a:endParaRPr dirty="0"/>
          </a:p>
          <a:p>
            <a:pPr marL="1371600" lvl="2" indent="-317500" algn="l" rtl="0">
              <a:spcBef>
                <a:spcPts val="0"/>
              </a:spcBef>
              <a:spcAft>
                <a:spcPts val="0"/>
              </a:spcAft>
              <a:buSzPts val="1400"/>
              <a:buChar char="■"/>
            </a:pPr>
            <a:r>
              <a:rPr lang="it" dirty="0"/>
              <a:t>metadata.csv</a:t>
            </a:r>
            <a:endParaRPr dirty="0"/>
          </a:p>
          <a:p>
            <a:pPr marL="1371600" lvl="2" indent="-317500" algn="l" rtl="0">
              <a:spcBef>
                <a:spcPts val="0"/>
              </a:spcBef>
              <a:spcAft>
                <a:spcPts val="0"/>
              </a:spcAft>
              <a:buSzPts val="1400"/>
              <a:buChar char="■"/>
            </a:pPr>
            <a:r>
              <a:rPr lang="it" dirty="0"/>
              <a:t>metadata.tsv</a:t>
            </a:r>
            <a:endParaRPr dirty="0"/>
          </a:p>
          <a:p>
            <a:pPr marL="1371600" lvl="2" indent="-317500" algn="l" rtl="0">
              <a:spcBef>
                <a:spcPts val="0"/>
              </a:spcBef>
              <a:spcAft>
                <a:spcPts val="0"/>
              </a:spcAft>
              <a:buSzPts val="1400"/>
              <a:buChar char="■"/>
            </a:pPr>
            <a:r>
              <a:rPr lang="it" dirty="0"/>
              <a:t>nextflow.config → modify this file with the correct path to the csv and tsv files</a:t>
            </a:r>
            <a:endParaRPr dirty="0"/>
          </a:p>
          <a:p>
            <a:pPr marL="1828800" lvl="3" indent="-317500" algn="l" rtl="0">
              <a:spcBef>
                <a:spcPts val="0"/>
              </a:spcBef>
              <a:spcAft>
                <a:spcPts val="0"/>
              </a:spcAft>
              <a:buSzPts val="1400"/>
              <a:buChar char="●"/>
            </a:pPr>
            <a:r>
              <a:rPr lang="it" dirty="0"/>
              <a:t>In alternative you can use the params.yaml to define your parameters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Emission order in channels: .mix() and .concat() difference</a:t>
            </a:r>
            <a:endParaRPr/>
          </a:p>
        </p:txBody>
      </p:sp>
      <p:sp>
        <p:nvSpPr>
          <p:cNvPr id="108" name="Google Shape;108;p21"/>
          <p:cNvSpPr txBox="1">
            <a:spLocks noGrp="1"/>
          </p:cNvSpPr>
          <p:nvPr>
            <p:ph type="body" idx="1"/>
          </p:nvPr>
        </p:nvSpPr>
        <p:spPr>
          <a:xfrm>
            <a:off x="311700" y="1152475"/>
            <a:ext cx="5060700" cy="3416400"/>
          </a:xfrm>
          <a:prstGeom prst="rect">
            <a:avLst/>
          </a:prstGeom>
        </p:spPr>
        <p:txBody>
          <a:bodyPr spcFirstLastPara="1" wrap="square" lIns="91425" tIns="91425" rIns="91425" bIns="91425" anchor="t" anchorCtr="0">
            <a:normAutofit fontScale="62500" lnSpcReduction="20000"/>
          </a:bodyPr>
          <a:lstStyle/>
          <a:p>
            <a:pPr marL="457200" lvl="0" indent="-308610" algn="l" rtl="0">
              <a:spcBef>
                <a:spcPts val="0"/>
              </a:spcBef>
              <a:spcAft>
                <a:spcPts val="0"/>
              </a:spcAft>
              <a:buSzPct val="100000"/>
              <a:buChar char="●"/>
            </a:pPr>
            <a:r>
              <a:rPr lang="it"/>
              <a:t>Channels are “FIFO queues” → first in, first out</a:t>
            </a:r>
            <a:endParaRPr/>
          </a:p>
          <a:p>
            <a:pPr marL="914400" lvl="1" indent="-290830" algn="l" rtl="0">
              <a:spcBef>
                <a:spcPts val="0"/>
              </a:spcBef>
              <a:spcAft>
                <a:spcPts val="0"/>
              </a:spcAft>
              <a:buSzPct val="100000"/>
              <a:buChar char="○"/>
            </a:pPr>
            <a:r>
              <a:rPr lang="it"/>
              <a:t>The order of the emissions is determined by the order of the events in the workflow: if a sample will finish a process sooner than another, it will be emitted first</a:t>
            </a:r>
            <a:endParaRPr/>
          </a:p>
          <a:p>
            <a:pPr marL="457200" lvl="0" indent="-308610" algn="l" rtl="0">
              <a:spcBef>
                <a:spcPts val="0"/>
              </a:spcBef>
              <a:spcAft>
                <a:spcPts val="0"/>
              </a:spcAft>
              <a:buSzPct val="100000"/>
              <a:buChar char="●"/>
            </a:pPr>
            <a:r>
              <a:rPr lang="it"/>
              <a:t>You should account this concept since there are some operators that “wait” until each emission has passed through a channel before being executed</a:t>
            </a:r>
            <a:endParaRPr/>
          </a:p>
          <a:p>
            <a:pPr marL="457200" lvl="0" indent="-308610" algn="l" rtl="0">
              <a:spcBef>
                <a:spcPts val="0"/>
              </a:spcBef>
              <a:spcAft>
                <a:spcPts val="0"/>
              </a:spcAft>
              <a:buSzPct val="100000"/>
              <a:buChar char="●"/>
            </a:pPr>
            <a:r>
              <a:rPr lang="it"/>
              <a:t>An easy example are the </a:t>
            </a:r>
            <a:r>
              <a:rPr lang="it">
                <a:highlight>
                  <a:srgbClr val="B7B7B7"/>
                </a:highlight>
                <a:latin typeface="Courier New"/>
                <a:ea typeface="Courier New"/>
                <a:cs typeface="Courier New"/>
                <a:sym typeface="Courier New"/>
              </a:rPr>
              <a:t>.mix()</a:t>
            </a:r>
            <a:r>
              <a:rPr lang="it"/>
              <a:t> and </a:t>
            </a:r>
            <a:r>
              <a:rPr lang="it">
                <a:highlight>
                  <a:srgbClr val="B7B7B7"/>
                </a:highlight>
                <a:latin typeface="Courier New"/>
                <a:ea typeface="Courier New"/>
                <a:cs typeface="Courier New"/>
                <a:sym typeface="Courier New"/>
              </a:rPr>
              <a:t>.concat()</a:t>
            </a:r>
            <a:r>
              <a:rPr lang="it"/>
              <a:t> operators</a:t>
            </a:r>
            <a:endParaRPr/>
          </a:p>
          <a:p>
            <a:pPr marL="914400" lvl="1" indent="-290830" algn="l" rtl="0">
              <a:spcBef>
                <a:spcPts val="0"/>
              </a:spcBef>
              <a:spcAft>
                <a:spcPts val="0"/>
              </a:spcAft>
              <a:buSzPct val="100000"/>
              <a:buChar char="○"/>
            </a:pPr>
            <a:r>
              <a:rPr lang="it"/>
              <a:t>Both operators create a single channel taking the emissions of two different channels</a:t>
            </a:r>
            <a:endParaRPr/>
          </a:p>
          <a:p>
            <a:pPr marL="914400" lvl="1" indent="-290830" algn="l" rtl="0">
              <a:spcBef>
                <a:spcPts val="0"/>
              </a:spcBef>
              <a:spcAft>
                <a:spcPts val="0"/>
              </a:spcAft>
              <a:buSzPct val="100000"/>
              <a:buChar char="○"/>
            </a:pPr>
            <a:r>
              <a:rPr lang="it"/>
              <a:t>The </a:t>
            </a:r>
            <a:r>
              <a:rPr lang="it">
                <a:highlight>
                  <a:srgbClr val="B7B7B7"/>
                </a:highlight>
                <a:latin typeface="Courier New"/>
                <a:ea typeface="Courier New"/>
                <a:cs typeface="Courier New"/>
                <a:sym typeface="Courier New"/>
              </a:rPr>
              <a:t>.mix()</a:t>
            </a:r>
            <a:r>
              <a:rPr lang="it"/>
              <a:t> operator will result in a channel where the emissions of both channels are actually mixed together following the FIFO concept</a:t>
            </a:r>
            <a:endParaRPr/>
          </a:p>
          <a:p>
            <a:pPr marL="914400" lvl="1" indent="-290830" algn="l" rtl="0">
              <a:spcBef>
                <a:spcPts val="0"/>
              </a:spcBef>
              <a:spcAft>
                <a:spcPts val="0"/>
              </a:spcAft>
              <a:buSzPct val="100000"/>
              <a:buChar char="○"/>
            </a:pPr>
            <a:r>
              <a:rPr lang="it"/>
              <a:t>The </a:t>
            </a:r>
            <a:r>
              <a:rPr lang="it">
                <a:highlight>
                  <a:srgbClr val="B7B7B7"/>
                </a:highlight>
                <a:latin typeface="Courier New"/>
                <a:ea typeface="Courier New"/>
                <a:cs typeface="Courier New"/>
                <a:sym typeface="Courier New"/>
              </a:rPr>
              <a:t>.concat()</a:t>
            </a:r>
            <a:r>
              <a:rPr lang="it"/>
              <a:t> operator will wait for both channels to be exhausted (e.g. for them to have all the emission done) and then will concat the two channels, preserving the order of the first and the second channels</a:t>
            </a:r>
            <a:endParaRPr/>
          </a:p>
          <a:p>
            <a:pPr marL="914400" lvl="1" indent="-290830" algn="l" rtl="0">
              <a:spcBef>
                <a:spcPts val="0"/>
              </a:spcBef>
              <a:spcAft>
                <a:spcPts val="0"/>
              </a:spcAft>
              <a:buSzPct val="100000"/>
              <a:buChar char="○"/>
            </a:pPr>
            <a:r>
              <a:rPr lang="it"/>
              <a:t>Given their different behaviour, use </a:t>
            </a:r>
            <a:r>
              <a:rPr lang="it">
                <a:highlight>
                  <a:srgbClr val="B7B7B7"/>
                </a:highlight>
                <a:latin typeface="Courier New"/>
                <a:ea typeface="Courier New"/>
                <a:cs typeface="Courier New"/>
                <a:sym typeface="Courier New"/>
              </a:rPr>
              <a:t>.concat()</a:t>
            </a:r>
            <a:r>
              <a:rPr lang="it"/>
              <a:t> only when you actually need to preserve the channel order, otherwise the resulting channel will be created only when all values are emitted → using </a:t>
            </a:r>
            <a:r>
              <a:rPr lang="it">
                <a:highlight>
                  <a:srgbClr val="B7B7B7"/>
                </a:highlight>
                <a:latin typeface="Courier New"/>
                <a:ea typeface="Courier New"/>
                <a:cs typeface="Courier New"/>
                <a:sym typeface="Courier New"/>
              </a:rPr>
              <a:t>.mix()</a:t>
            </a:r>
            <a:r>
              <a:rPr lang="it"/>
              <a:t> allow you to populate the resulting channel as soon as an element is emitted, thus saving processing time</a:t>
            </a:r>
            <a:endParaRPr/>
          </a:p>
        </p:txBody>
      </p:sp>
      <p:pic>
        <p:nvPicPr>
          <p:cNvPr id="109" name="Google Shape;109;p21" descr="Make a nice illustration to summarise the main concepts in Nextflow channel emission logic according to these main points: Emission order in channels: .mix() and .concat() difference. Channels are “FIFO queues” → first in, first out&#10;The order of the emissions is determined by the order of the events in the workflow: if a sample will finish a process sooner than another, it will be emitted first&#10;You should account this concept since there are some operators that “wait” until each emission has passed through a channel before being executed&#10;An easy example are the .mix() and .concat() operators&#10;Both operators create a single channel taking the emissions of two different channels&#10;The .mix() operator will result in a channel where the emissions of both channels are actually mixed together following the FIFO concept&#10;The .concat() operator will wait for both channels to be exhausted (e.g. for them to have all the emission done) and then will concat the two channels, preserving the order of the first and the second channels&#10;Given their different behaviour, use .concat() only when you actually need to preserve the channel order, otherwise the resulting channel will be created only when all values are emitted → using .mix() allow you to populate the resulting channel as soon as an element is emitted, thus saving processing time"/>
          <p:cNvPicPr preferRelativeResize="0"/>
          <p:nvPr/>
        </p:nvPicPr>
        <p:blipFill>
          <a:blip r:embed="rId3">
            <a:alphaModFix/>
          </a:blip>
          <a:stretch>
            <a:fillRect/>
          </a:stretch>
        </p:blipFill>
        <p:spPr>
          <a:xfrm>
            <a:off x="5499525" y="1192575"/>
            <a:ext cx="3416401" cy="34164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it" sz="2420"/>
              <a:t>Group and ungroup: .groupTuple(), .transpose() and .flatten()</a:t>
            </a:r>
            <a:endParaRPr sz="2420"/>
          </a:p>
        </p:txBody>
      </p:sp>
      <p:sp>
        <p:nvSpPr>
          <p:cNvPr id="115" name="Google Shape;115;p22"/>
          <p:cNvSpPr txBox="1">
            <a:spLocks noGrp="1"/>
          </p:cNvSpPr>
          <p:nvPr>
            <p:ph type="body" idx="1"/>
          </p:nvPr>
        </p:nvSpPr>
        <p:spPr>
          <a:xfrm>
            <a:off x="311700" y="1152475"/>
            <a:ext cx="4588200" cy="3416400"/>
          </a:xfrm>
          <a:prstGeom prst="rect">
            <a:avLst/>
          </a:prstGeom>
        </p:spPr>
        <p:txBody>
          <a:bodyPr spcFirstLastPara="1" wrap="square" lIns="91425" tIns="91425" rIns="91425" bIns="91425" anchor="t" anchorCtr="0">
            <a:normAutofit fontScale="62500" lnSpcReduction="10000"/>
          </a:bodyPr>
          <a:lstStyle/>
          <a:p>
            <a:pPr marL="457200" lvl="0" indent="-300037" algn="l" rtl="0">
              <a:spcBef>
                <a:spcPts val="0"/>
              </a:spcBef>
              <a:spcAft>
                <a:spcPts val="0"/>
              </a:spcAft>
              <a:buSzPct val="100000"/>
              <a:buChar char="●"/>
            </a:pPr>
            <a:r>
              <a:rPr lang="it"/>
              <a:t>To group emissions based on a common key, you can use the </a:t>
            </a:r>
            <a:r>
              <a:rPr lang="it">
                <a:highlight>
                  <a:srgbClr val="B7B7B7"/>
                </a:highlight>
                <a:latin typeface="Courier New"/>
                <a:ea typeface="Courier New"/>
                <a:cs typeface="Courier New"/>
                <a:sym typeface="Courier New"/>
              </a:rPr>
              <a:t>.groupTuple()</a:t>
            </a:r>
            <a:r>
              <a:rPr lang="it"/>
              <a:t> operator</a:t>
            </a:r>
            <a:endParaRPr/>
          </a:p>
          <a:p>
            <a:pPr marL="914400" lvl="1" indent="-284162" algn="l" rtl="0">
              <a:spcBef>
                <a:spcPts val="0"/>
              </a:spcBef>
              <a:spcAft>
                <a:spcPts val="0"/>
              </a:spcAft>
              <a:buSzPct val="100000"/>
              <a:buChar char="○"/>
            </a:pPr>
            <a:r>
              <a:rPr lang="it"/>
              <a:t>The common key is usually the first element of a tuple emission and it can be a single metadata or a map of multiple metadata together</a:t>
            </a:r>
            <a:endParaRPr/>
          </a:p>
          <a:p>
            <a:pPr marL="914400" lvl="1" indent="-284162" algn="l" rtl="0">
              <a:spcBef>
                <a:spcPts val="0"/>
              </a:spcBef>
              <a:spcAft>
                <a:spcPts val="0"/>
              </a:spcAft>
              <a:buSzPct val="100000"/>
              <a:buChar char="○"/>
            </a:pPr>
            <a:r>
              <a:rPr lang="it"/>
              <a:t>The number of emissions will be equal to the number of unique keys</a:t>
            </a:r>
            <a:endParaRPr/>
          </a:p>
          <a:p>
            <a:pPr marL="914400" lvl="1" indent="-284162" algn="l" rtl="0">
              <a:spcBef>
                <a:spcPts val="0"/>
              </a:spcBef>
              <a:spcAft>
                <a:spcPts val="0"/>
              </a:spcAft>
              <a:buSzPct val="100000"/>
              <a:buChar char="○"/>
            </a:pPr>
            <a:r>
              <a:rPr lang="it"/>
              <a:t>The resulting emission will be a tuple where you have your common key and a list of grouped elements → the length of this list will be equal to the number of elements that share that key</a:t>
            </a:r>
            <a:endParaRPr/>
          </a:p>
          <a:p>
            <a:pPr marL="914400" lvl="1" indent="-284162" algn="l" rtl="0">
              <a:spcBef>
                <a:spcPts val="0"/>
              </a:spcBef>
              <a:spcAft>
                <a:spcPts val="0"/>
              </a:spcAft>
              <a:buSzPct val="100000"/>
              <a:buChar char="○"/>
            </a:pPr>
            <a:r>
              <a:rPr lang="it"/>
              <a:t>As for the </a:t>
            </a:r>
            <a:r>
              <a:rPr lang="it">
                <a:highlight>
                  <a:srgbClr val="B7B7B7"/>
                </a:highlight>
                <a:latin typeface="Courier New"/>
                <a:ea typeface="Courier New"/>
                <a:cs typeface="Courier New"/>
                <a:sym typeface="Courier New"/>
              </a:rPr>
              <a:t>.concat()</a:t>
            </a:r>
            <a:r>
              <a:rPr lang="it"/>
              <a:t> operator, also this operator waits until the source channel is exhausted</a:t>
            </a:r>
            <a:endParaRPr/>
          </a:p>
          <a:p>
            <a:pPr marL="457200" lvl="0" indent="-300037" algn="l" rtl="0">
              <a:spcBef>
                <a:spcPts val="0"/>
              </a:spcBef>
              <a:spcAft>
                <a:spcPts val="0"/>
              </a:spcAft>
              <a:buSzPct val="100000"/>
              <a:buChar char="●"/>
            </a:pPr>
            <a:r>
              <a:rPr lang="it"/>
              <a:t>To split a list of files and map it to a common key, you can use </a:t>
            </a:r>
            <a:r>
              <a:rPr lang="it">
                <a:highlight>
                  <a:srgbClr val="B7B7B7"/>
                </a:highlight>
                <a:latin typeface="Courier New"/>
                <a:ea typeface="Courier New"/>
                <a:cs typeface="Courier New"/>
                <a:sym typeface="Courier New"/>
              </a:rPr>
              <a:t>.transpose()</a:t>
            </a:r>
            <a:endParaRPr/>
          </a:p>
          <a:p>
            <a:pPr marL="914400" lvl="1" indent="-284162" algn="l" rtl="0">
              <a:spcBef>
                <a:spcPts val="0"/>
              </a:spcBef>
              <a:spcAft>
                <a:spcPts val="0"/>
              </a:spcAft>
              <a:buSzPct val="100000"/>
              <a:buChar char="○"/>
            </a:pPr>
            <a:r>
              <a:rPr lang="it"/>
              <a:t>In this case the result it will be the opposite: from a single emission where you have a tuple with a first element and then as second element a list of length n, you will obtain n emissions with just the first tuple item and one element of the list</a:t>
            </a:r>
            <a:endParaRPr/>
          </a:p>
          <a:p>
            <a:pPr marL="457200" lvl="0" indent="-300037" algn="l" rtl="0">
              <a:spcBef>
                <a:spcPts val="0"/>
              </a:spcBef>
              <a:spcAft>
                <a:spcPts val="0"/>
              </a:spcAft>
              <a:buSzPct val="100000"/>
              <a:buChar char="●"/>
            </a:pPr>
            <a:r>
              <a:rPr lang="it"/>
              <a:t>To totally ungroup each possible list you have in your emissions, you can use </a:t>
            </a:r>
            <a:r>
              <a:rPr lang="it">
                <a:highlight>
                  <a:srgbClr val="B7B7B7"/>
                </a:highlight>
                <a:latin typeface="Courier New"/>
                <a:ea typeface="Courier New"/>
                <a:cs typeface="Courier New"/>
                <a:sym typeface="Courier New"/>
              </a:rPr>
              <a:t>.flatten()</a:t>
            </a:r>
            <a:r>
              <a:rPr lang="it"/>
              <a:t> which will return one emission for each element of each list</a:t>
            </a:r>
            <a:endParaRPr/>
          </a:p>
        </p:txBody>
      </p:sp>
      <p:pic>
        <p:nvPicPr>
          <p:cNvPr id="116" name="Google Shape;116;p22" descr="Make a nice illustration to summarise the main concept of Nextflow groupin operators according to these main points: Group and ungroup: .groupTuple(), .transpose() and .flatten(). To group emissions based on a common key, you can use the .groupTuple() operator&#10;The common key is usually the first element of a tuple emission and it can be a single metadata or a map of multiple metadata together&#10;The number of emissions will be equal to the number of unique keys&#10;The resulting emission will be a tuple where you have your common key and a list of grouped elements → the length of this list will be equal to the number of elements that share that key&#10;As for the .concat() operator, also this operator waits until the source channel is exhausted&#10;To split a list of files and map it to a common key, you can use .transpose()&#10;In this case the result it will be the opposite: from a single emission where you have a tuple with a first element and then as second element a list of length n, you will obtain n emissions with just the first tuple item and one element of the list&#10;To totally ungroup each possible list you have in your emissions, you can use .flatten() which will return one emission for each element of each list"/>
          <p:cNvPicPr preferRelativeResize="0"/>
          <p:nvPr/>
        </p:nvPicPr>
        <p:blipFill>
          <a:blip r:embed="rId3">
            <a:alphaModFix/>
          </a:blip>
          <a:stretch>
            <a:fillRect/>
          </a:stretch>
        </p:blipFill>
        <p:spPr>
          <a:xfrm>
            <a:off x="4938650" y="911575"/>
            <a:ext cx="4090051" cy="40900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320"/>
              <a:t>Collecting emissions in a single one: .collect() and .collectFile()</a:t>
            </a:r>
            <a:endParaRPr sz="2320"/>
          </a:p>
        </p:txBody>
      </p:sp>
      <p:sp>
        <p:nvSpPr>
          <p:cNvPr id="122" name="Google Shape;122;p23"/>
          <p:cNvSpPr txBox="1">
            <a:spLocks noGrp="1"/>
          </p:cNvSpPr>
          <p:nvPr>
            <p:ph type="body" idx="1"/>
          </p:nvPr>
        </p:nvSpPr>
        <p:spPr>
          <a:xfrm>
            <a:off x="311700" y="1152475"/>
            <a:ext cx="5008800" cy="3416400"/>
          </a:xfrm>
          <a:prstGeom prst="rect">
            <a:avLst/>
          </a:prstGeom>
        </p:spPr>
        <p:txBody>
          <a:bodyPr spcFirstLastPara="1" wrap="square" lIns="91425" tIns="91425" rIns="91425" bIns="91425" anchor="t" anchorCtr="0">
            <a:normAutofit fontScale="92500" lnSpcReduction="20000"/>
          </a:bodyPr>
          <a:lstStyle/>
          <a:p>
            <a:pPr marL="457200" lvl="0" indent="-334327" algn="l" rtl="0">
              <a:spcBef>
                <a:spcPts val="0"/>
              </a:spcBef>
              <a:spcAft>
                <a:spcPts val="0"/>
              </a:spcAft>
              <a:buSzPct val="100000"/>
              <a:buChar char="●"/>
            </a:pPr>
            <a:r>
              <a:rPr lang="it"/>
              <a:t>If you need to collect all the emissions of a channel into a single emission, you can use the </a:t>
            </a:r>
            <a:r>
              <a:rPr lang="it">
                <a:highlight>
                  <a:srgbClr val="B7B7B7"/>
                </a:highlight>
                <a:latin typeface="Courier New"/>
                <a:ea typeface="Courier New"/>
                <a:cs typeface="Courier New"/>
                <a:sym typeface="Courier New"/>
              </a:rPr>
              <a:t>.collect()</a:t>
            </a:r>
            <a:r>
              <a:rPr lang="it"/>
              <a:t> operator</a:t>
            </a:r>
            <a:endParaRPr/>
          </a:p>
          <a:p>
            <a:pPr marL="914400" lvl="1" indent="-310832" algn="l" rtl="0">
              <a:spcBef>
                <a:spcPts val="0"/>
              </a:spcBef>
              <a:spcAft>
                <a:spcPts val="0"/>
              </a:spcAft>
              <a:buSzPct val="100000"/>
              <a:buChar char="○"/>
            </a:pPr>
            <a:r>
              <a:rPr lang="it"/>
              <a:t>The resulting emission will be always 1 composed by a list with n items where n is the number of emission of the source channel</a:t>
            </a:r>
            <a:endParaRPr/>
          </a:p>
          <a:p>
            <a:pPr marL="457200" lvl="0" indent="-334327" algn="l" rtl="0">
              <a:spcBef>
                <a:spcPts val="0"/>
              </a:spcBef>
              <a:spcAft>
                <a:spcPts val="0"/>
              </a:spcAft>
              <a:buSzPct val="100000"/>
              <a:buChar char="●"/>
            </a:pPr>
            <a:r>
              <a:rPr lang="it"/>
              <a:t>The </a:t>
            </a:r>
            <a:r>
              <a:rPr lang="it">
                <a:highlight>
                  <a:srgbClr val="B7B7B7"/>
                </a:highlight>
                <a:latin typeface="Courier New"/>
                <a:ea typeface="Courier New"/>
                <a:cs typeface="Courier New"/>
                <a:sym typeface="Courier New"/>
              </a:rPr>
              <a:t>.collectFile()</a:t>
            </a:r>
            <a:r>
              <a:rPr lang="it"/>
              <a:t> operator does the same thing as </a:t>
            </a:r>
            <a:r>
              <a:rPr lang="it">
                <a:highlight>
                  <a:srgbClr val="B7B7B7"/>
                </a:highlight>
                <a:latin typeface="Courier New"/>
                <a:ea typeface="Courier New"/>
                <a:cs typeface="Courier New"/>
                <a:sym typeface="Courier New"/>
              </a:rPr>
              <a:t>.collect()</a:t>
            </a:r>
            <a:r>
              <a:rPr lang="it"/>
              <a:t> but instead of emitting a list, will emit a file where the content of the file will be the collected values</a:t>
            </a:r>
            <a:endParaRPr/>
          </a:p>
          <a:p>
            <a:pPr marL="914400" lvl="1" indent="-310832" algn="l" rtl="0">
              <a:spcBef>
                <a:spcPts val="0"/>
              </a:spcBef>
              <a:spcAft>
                <a:spcPts val="0"/>
              </a:spcAft>
              <a:buSzPct val="100000"/>
              <a:buChar char="○"/>
            </a:pPr>
            <a:r>
              <a:rPr lang="it"/>
              <a:t>You can customize how to write the content of the file using options and/or a closure</a:t>
            </a:r>
            <a:endParaRPr/>
          </a:p>
          <a:p>
            <a:pPr marL="457200" lvl="0" indent="-334327" algn="l" rtl="0">
              <a:spcBef>
                <a:spcPts val="0"/>
              </a:spcBef>
              <a:spcAft>
                <a:spcPts val="0"/>
              </a:spcAft>
              <a:buSzPct val="100000"/>
              <a:buChar char="●"/>
            </a:pPr>
            <a:r>
              <a:rPr lang="it"/>
              <a:t>Both operators will wait for the source channel to be exhausted</a:t>
            </a:r>
            <a:endParaRPr/>
          </a:p>
        </p:txBody>
      </p:sp>
      <p:pic>
        <p:nvPicPr>
          <p:cNvPr id="123" name="Google Shape;123;p23" descr="Make a nice illustration to represent the main Nextflow operator to collect emissions from a channel according to these main points: Collecting emissions in a single one: .collect() and .collectFile(). If you need to collect all the emissions of a channel into a single emission, you can use the .collect() operator&#10;The resulting emission will be always 1 composed by a list with n items where n is the number of emission of the source channel&#10;The .collectFile() operator does the same thing as .collect() but instead of emitting a list, will emit a file where the content of the file will be the collected values&#10;You can customize how to write the content of the file using options and/or a closure&#10;Both operators will wait for the source channel to be exhausted&#10;"/>
          <p:cNvPicPr preferRelativeResize="0"/>
          <p:nvPr/>
        </p:nvPicPr>
        <p:blipFill>
          <a:blip r:embed="rId3">
            <a:alphaModFix/>
          </a:blip>
          <a:stretch>
            <a:fillRect/>
          </a:stretch>
        </p:blipFill>
        <p:spPr>
          <a:xfrm>
            <a:off x="5563875" y="1226463"/>
            <a:ext cx="3268425" cy="3268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Subset using logical conditions: .filter() and .branch()</a:t>
            </a:r>
            <a:endParaRPr/>
          </a:p>
        </p:txBody>
      </p:sp>
      <p:sp>
        <p:nvSpPr>
          <p:cNvPr id="129" name="Google Shape;129;p24"/>
          <p:cNvSpPr txBox="1">
            <a:spLocks noGrp="1"/>
          </p:cNvSpPr>
          <p:nvPr>
            <p:ph type="body" idx="1"/>
          </p:nvPr>
        </p:nvSpPr>
        <p:spPr>
          <a:xfrm>
            <a:off x="311700" y="1152475"/>
            <a:ext cx="4647300" cy="3416400"/>
          </a:xfrm>
          <a:prstGeom prst="rect">
            <a:avLst/>
          </a:prstGeom>
        </p:spPr>
        <p:txBody>
          <a:bodyPr spcFirstLastPara="1" wrap="square" lIns="91425" tIns="91425" rIns="91425" bIns="91425" anchor="t" anchorCtr="0">
            <a:normAutofit fontScale="85000" lnSpcReduction="20000"/>
          </a:bodyPr>
          <a:lstStyle/>
          <a:p>
            <a:pPr marL="457200" lvl="0" indent="-317182" algn="l" rtl="0">
              <a:spcBef>
                <a:spcPts val="0"/>
              </a:spcBef>
              <a:spcAft>
                <a:spcPts val="0"/>
              </a:spcAft>
              <a:buSzPct val="100000"/>
              <a:buChar char="●"/>
            </a:pPr>
            <a:r>
              <a:rPr lang="it"/>
              <a:t>When you need to filter the emissions of a channel, you can use the </a:t>
            </a:r>
            <a:r>
              <a:rPr lang="it">
                <a:highlight>
                  <a:srgbClr val="B7B7B7"/>
                </a:highlight>
                <a:latin typeface="Courier New"/>
                <a:ea typeface="Courier New"/>
                <a:cs typeface="Courier New"/>
                <a:sym typeface="Courier New"/>
              </a:rPr>
              <a:t>.filter()</a:t>
            </a:r>
            <a:r>
              <a:rPr lang="it"/>
              <a:t> operator</a:t>
            </a:r>
            <a:endParaRPr/>
          </a:p>
          <a:p>
            <a:pPr marL="914400" lvl="1" indent="-297497" algn="l" rtl="0">
              <a:spcBef>
                <a:spcPts val="0"/>
              </a:spcBef>
              <a:spcAft>
                <a:spcPts val="0"/>
              </a:spcAft>
              <a:buSzPct val="100000"/>
              <a:buChar char="○"/>
            </a:pPr>
            <a:r>
              <a:rPr lang="it"/>
              <a:t>You will need a closure to define the logical conditions for filtering</a:t>
            </a:r>
            <a:endParaRPr/>
          </a:p>
          <a:p>
            <a:pPr marL="914400" lvl="1" indent="-297497" algn="l" rtl="0">
              <a:spcBef>
                <a:spcPts val="0"/>
              </a:spcBef>
              <a:spcAft>
                <a:spcPts val="0"/>
              </a:spcAft>
              <a:buSzPct val="100000"/>
              <a:buChar char="○"/>
            </a:pPr>
            <a:r>
              <a:rPr lang="it"/>
              <a:t>The resulting channel will contain only the emissions that satisfy the filter condition</a:t>
            </a:r>
            <a:endParaRPr/>
          </a:p>
          <a:p>
            <a:pPr marL="457200" lvl="0" indent="-317182" algn="l" rtl="0">
              <a:spcBef>
                <a:spcPts val="0"/>
              </a:spcBef>
              <a:spcAft>
                <a:spcPts val="0"/>
              </a:spcAft>
              <a:buSzPct val="100000"/>
              <a:buChar char="●"/>
            </a:pPr>
            <a:r>
              <a:rPr lang="it"/>
              <a:t>If you need to instead divide your emission in many different channels, then </a:t>
            </a:r>
            <a:r>
              <a:rPr lang="it">
                <a:highlight>
                  <a:srgbClr val="B7B7B7"/>
                </a:highlight>
                <a:latin typeface="Courier New"/>
                <a:ea typeface="Courier New"/>
                <a:cs typeface="Courier New"/>
                <a:sym typeface="Courier New"/>
              </a:rPr>
              <a:t>.branch()</a:t>
            </a:r>
            <a:r>
              <a:rPr lang="it"/>
              <a:t> is what you are looking for</a:t>
            </a:r>
            <a:endParaRPr/>
          </a:p>
          <a:p>
            <a:pPr marL="914400" lvl="1" indent="-297497" algn="l" rtl="0">
              <a:spcBef>
                <a:spcPts val="0"/>
              </a:spcBef>
              <a:spcAft>
                <a:spcPts val="0"/>
              </a:spcAft>
              <a:buSzPct val="100000"/>
              <a:buChar char="○"/>
            </a:pPr>
            <a:r>
              <a:rPr lang="it"/>
              <a:t>As for </a:t>
            </a:r>
            <a:r>
              <a:rPr lang="it">
                <a:highlight>
                  <a:srgbClr val="B7B7B7"/>
                </a:highlight>
                <a:latin typeface="Courier New"/>
                <a:ea typeface="Courier New"/>
                <a:cs typeface="Courier New"/>
                <a:sym typeface="Courier New"/>
              </a:rPr>
              <a:t>.filter()</a:t>
            </a:r>
            <a:r>
              <a:rPr lang="it"/>
              <a:t> you need a closure to define a logical condition, here you will need a closure too but you can set up any named conditions</a:t>
            </a:r>
            <a:endParaRPr/>
          </a:p>
          <a:p>
            <a:pPr marL="914400" lvl="1" indent="-297497" algn="l" rtl="0">
              <a:spcBef>
                <a:spcPts val="0"/>
              </a:spcBef>
              <a:spcAft>
                <a:spcPts val="0"/>
              </a:spcAft>
              <a:buSzPct val="100000"/>
              <a:buChar char="○"/>
            </a:pPr>
            <a:r>
              <a:rPr lang="it"/>
              <a:t>The incoming emissions will be divided into the different categories you set up in the code</a:t>
            </a:r>
            <a:endParaRPr/>
          </a:p>
          <a:p>
            <a:pPr marL="914400" lvl="1" indent="-297497" algn="l" rtl="0">
              <a:spcBef>
                <a:spcPts val="0"/>
              </a:spcBef>
              <a:spcAft>
                <a:spcPts val="0"/>
              </a:spcAft>
              <a:buSzPct val="100000"/>
              <a:buChar char="○"/>
            </a:pPr>
            <a:r>
              <a:rPr lang="it"/>
              <a:t>In this way, starting from one channel you end up with multiple channels</a:t>
            </a:r>
            <a:endParaRPr/>
          </a:p>
          <a:p>
            <a:pPr marL="1371600" lvl="2" indent="-297497" algn="l" rtl="0">
              <a:spcBef>
                <a:spcPts val="0"/>
              </a:spcBef>
              <a:spcAft>
                <a:spcPts val="0"/>
              </a:spcAft>
              <a:buSzPct val="100000"/>
              <a:buChar char="■"/>
            </a:pPr>
            <a:r>
              <a:rPr lang="it"/>
              <a:t>Some of these may be potentially empty</a:t>
            </a:r>
            <a:endParaRPr/>
          </a:p>
        </p:txBody>
      </p:sp>
      <p:pic>
        <p:nvPicPr>
          <p:cNvPr id="130" name="Google Shape;130;p24" descr="Make a nice illustration to summarise the main filter operators of Nextflow according to these main points: Subset using logical conditions: .filter() and .branch(). When you need to filter the emissions of a channel, you can use the .filter() operator&#10;You will need a closure to define the logical conditions for filtering&#10;The resulting channel will contain only the emissions that satisfy the filter condition&#10;If you need to instead divide your emission in many different channels, then .branch() is what you are looking for&#10;As for .filter() you need a closure to define a logical condition, here you will need a closure too but you can set up any named conditions&#10;The incoming emissions will be divided into the different categories you set up in the code&#10;In this way, starting from one channel you end up with multiple channels&#10;Some of these may be potentially empty&#10;"/>
          <p:cNvPicPr preferRelativeResize="0"/>
          <p:nvPr/>
        </p:nvPicPr>
        <p:blipFill>
          <a:blip r:embed="rId3">
            <a:alphaModFix/>
          </a:blip>
          <a:stretch>
            <a:fillRect/>
          </a:stretch>
        </p:blipFill>
        <p:spPr>
          <a:xfrm>
            <a:off x="5012825" y="1152475"/>
            <a:ext cx="3787651" cy="37876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Combine channels: .join() and .merge()</a:t>
            </a:r>
            <a:endParaRPr/>
          </a:p>
        </p:txBody>
      </p:sp>
      <p:sp>
        <p:nvSpPr>
          <p:cNvPr id="136" name="Google Shape;136;p25"/>
          <p:cNvSpPr txBox="1">
            <a:spLocks noGrp="1"/>
          </p:cNvSpPr>
          <p:nvPr>
            <p:ph type="body" idx="1"/>
          </p:nvPr>
        </p:nvSpPr>
        <p:spPr>
          <a:xfrm>
            <a:off x="311700" y="1152475"/>
            <a:ext cx="4772700" cy="34164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00000"/>
              <a:buChar char="●"/>
            </a:pPr>
            <a:r>
              <a:rPr lang="it"/>
              <a:t>When you want to merge the information of two different channels into a single one, you will use either </a:t>
            </a:r>
            <a:r>
              <a:rPr lang="it">
                <a:highlight>
                  <a:srgbClr val="B7B7B7"/>
                </a:highlight>
                <a:latin typeface="Courier New"/>
                <a:ea typeface="Courier New"/>
                <a:cs typeface="Courier New"/>
                <a:sym typeface="Courier New"/>
              </a:rPr>
              <a:t>.join()</a:t>
            </a:r>
            <a:r>
              <a:rPr lang="it"/>
              <a:t> or </a:t>
            </a:r>
            <a:r>
              <a:rPr lang="it">
                <a:highlight>
                  <a:srgbClr val="B7B7B7"/>
                </a:highlight>
                <a:latin typeface="Courier New"/>
                <a:ea typeface="Courier New"/>
                <a:cs typeface="Courier New"/>
                <a:sym typeface="Courier New"/>
              </a:rPr>
              <a:t>.combine()</a:t>
            </a:r>
            <a:endParaRPr>
              <a:highlight>
                <a:srgbClr val="B7B7B7"/>
              </a:highlight>
              <a:latin typeface="Courier New"/>
              <a:ea typeface="Courier New"/>
              <a:cs typeface="Courier New"/>
              <a:sym typeface="Courier New"/>
            </a:endParaRPr>
          </a:p>
          <a:p>
            <a:pPr marL="457200" lvl="0" indent="-325755" algn="l" rtl="0">
              <a:spcBef>
                <a:spcPts val="0"/>
              </a:spcBef>
              <a:spcAft>
                <a:spcPts val="0"/>
              </a:spcAft>
              <a:buSzPct val="100000"/>
              <a:buChar char="●"/>
            </a:pPr>
            <a:r>
              <a:rPr lang="it"/>
              <a:t>You can have different ways of merging channels</a:t>
            </a:r>
            <a:endParaRPr/>
          </a:p>
          <a:p>
            <a:pPr marL="914400" lvl="1" indent="-304165" algn="l" rtl="0">
              <a:spcBef>
                <a:spcPts val="0"/>
              </a:spcBef>
              <a:spcAft>
                <a:spcPts val="0"/>
              </a:spcAft>
              <a:buSzPct val="100000"/>
              <a:buChar char="○"/>
            </a:pPr>
            <a:r>
              <a:rPr lang="it"/>
              <a:t>With </a:t>
            </a:r>
            <a:r>
              <a:rPr lang="it">
                <a:highlight>
                  <a:srgbClr val="B7B7B7"/>
                </a:highlight>
                <a:latin typeface="Courier New"/>
                <a:ea typeface="Courier New"/>
                <a:cs typeface="Courier New"/>
                <a:sym typeface="Courier New"/>
              </a:rPr>
              <a:t>.join()</a:t>
            </a:r>
            <a:r>
              <a:rPr lang="it"/>
              <a:t>, you can look at this operation as you would do for merging two different databases</a:t>
            </a:r>
            <a:endParaRPr/>
          </a:p>
          <a:p>
            <a:pPr marL="1371600" lvl="2" indent="-304164" algn="l" rtl="0">
              <a:spcBef>
                <a:spcPts val="0"/>
              </a:spcBef>
              <a:spcAft>
                <a:spcPts val="0"/>
              </a:spcAft>
              <a:buSzPct val="100000"/>
              <a:buChar char="■"/>
            </a:pPr>
            <a:r>
              <a:rPr lang="it"/>
              <a:t>You need a common key on which to perform the merge</a:t>
            </a:r>
            <a:endParaRPr/>
          </a:p>
          <a:p>
            <a:pPr marL="1371600" lvl="2" indent="-304164" algn="l" rtl="0">
              <a:spcBef>
                <a:spcPts val="0"/>
              </a:spcBef>
              <a:spcAft>
                <a:spcPts val="0"/>
              </a:spcAft>
              <a:buSzPct val="100000"/>
              <a:buChar char="■"/>
            </a:pPr>
            <a:r>
              <a:rPr lang="it"/>
              <a:t>There are different methods for merging: inner (default) or outer (</a:t>
            </a:r>
            <a:r>
              <a:rPr lang="it">
                <a:highlight>
                  <a:srgbClr val="B7B7B7"/>
                </a:highlight>
                <a:latin typeface="Courier New"/>
                <a:ea typeface="Courier New"/>
                <a:cs typeface="Courier New"/>
                <a:sym typeface="Courier New"/>
              </a:rPr>
              <a:t>reminder</a:t>
            </a:r>
            <a:r>
              <a:rPr lang="it"/>
              <a:t> option)</a:t>
            </a:r>
            <a:endParaRPr/>
          </a:p>
          <a:p>
            <a:pPr marL="914400" lvl="1" indent="-304165" algn="l" rtl="0">
              <a:spcBef>
                <a:spcPts val="0"/>
              </a:spcBef>
              <a:spcAft>
                <a:spcPts val="0"/>
              </a:spcAft>
              <a:buSzPct val="100000"/>
              <a:buChar char="○"/>
            </a:pPr>
            <a:r>
              <a:rPr lang="it"/>
              <a:t>With </a:t>
            </a:r>
            <a:r>
              <a:rPr lang="it">
                <a:highlight>
                  <a:srgbClr val="B7B7B7"/>
                </a:highlight>
                <a:latin typeface="Courier New"/>
                <a:ea typeface="Courier New"/>
                <a:cs typeface="Courier New"/>
                <a:sym typeface="Courier New"/>
              </a:rPr>
              <a:t>.combine()</a:t>
            </a:r>
            <a:r>
              <a:rPr lang="it"/>
              <a:t> you are more flexible and you can have all possible combinations of events (cartesian product)</a:t>
            </a:r>
            <a:endParaRPr/>
          </a:p>
          <a:p>
            <a:pPr marL="1371600" lvl="2" indent="-304164" algn="l" rtl="0">
              <a:spcBef>
                <a:spcPts val="0"/>
              </a:spcBef>
              <a:spcAft>
                <a:spcPts val="0"/>
              </a:spcAft>
              <a:buSzPct val="100000"/>
              <a:buChar char="■"/>
            </a:pPr>
            <a:r>
              <a:rPr lang="it"/>
              <a:t>You can filter the resulting channel using the </a:t>
            </a:r>
            <a:r>
              <a:rPr lang="it">
                <a:highlight>
                  <a:srgbClr val="B7B7B7"/>
                </a:highlight>
              </a:rPr>
              <a:t>by()</a:t>
            </a:r>
            <a:r>
              <a:rPr lang="it"/>
              <a:t> option to combine by using a common key</a:t>
            </a:r>
            <a:endParaRPr/>
          </a:p>
        </p:txBody>
      </p:sp>
      <p:pic>
        <p:nvPicPr>
          <p:cNvPr id="137" name="Google Shape;137;p25" descr="Make a nice illustration to summarise the main combining operators in Nextflow according to these main points: Combine channels: .join() and .merge(). When you want to merge the information of two different channels into a single one, you will use either .join() or .combine()&#10;You can have different ways of merging channels&#10;With .join(), you can look at this operation as you would do for merging two different databases&#10;You need a common key on which to perform the merge&#10;There are different methods for merging: inner (default) or outer (reminder option)&#10;With .combine() you are more flexible and you can have all possible combinations of events (cartesian product)&#10;You can filter the resulting channel using the by() option to combine by using a common key"/>
          <p:cNvPicPr preferRelativeResize="0"/>
          <p:nvPr/>
        </p:nvPicPr>
        <p:blipFill>
          <a:blip r:embed="rId3">
            <a:alphaModFix/>
          </a:blip>
          <a:stretch>
            <a:fillRect/>
          </a:stretch>
        </p:blipFill>
        <p:spPr>
          <a:xfrm>
            <a:off x="5226175" y="1060100"/>
            <a:ext cx="3716826" cy="37168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Advanced .map() and .multiMap()</a:t>
            </a:r>
            <a:endParaRPr/>
          </a:p>
        </p:txBody>
      </p:sp>
      <p:sp>
        <p:nvSpPr>
          <p:cNvPr id="143" name="Google Shape;143;p26"/>
          <p:cNvSpPr txBox="1">
            <a:spLocks noGrp="1"/>
          </p:cNvSpPr>
          <p:nvPr>
            <p:ph type="body" idx="1"/>
          </p:nvPr>
        </p:nvSpPr>
        <p:spPr>
          <a:xfrm>
            <a:off x="311700" y="1152475"/>
            <a:ext cx="4809600" cy="3416400"/>
          </a:xfrm>
          <a:prstGeom prst="rect">
            <a:avLst/>
          </a:prstGeom>
        </p:spPr>
        <p:txBody>
          <a:bodyPr spcFirstLastPara="1" wrap="square" lIns="91425" tIns="91425" rIns="91425" bIns="91425" anchor="t" anchorCtr="0">
            <a:normAutofit fontScale="70000" lnSpcReduction="20000"/>
          </a:bodyPr>
          <a:lstStyle/>
          <a:p>
            <a:pPr marL="457200" lvl="0" indent="-308610" algn="l" rtl="0">
              <a:spcBef>
                <a:spcPts val="0"/>
              </a:spcBef>
              <a:spcAft>
                <a:spcPts val="0"/>
              </a:spcAft>
              <a:buSzPct val="100000"/>
              <a:buChar char="●"/>
            </a:pPr>
            <a:r>
              <a:rPr lang="it"/>
              <a:t>For most of the custom things, the .map() operator is the one that will solve your issues since it allow to apply any function to your channel</a:t>
            </a:r>
            <a:endParaRPr/>
          </a:p>
          <a:p>
            <a:pPr marL="914400" lvl="1" indent="-290830" algn="l" rtl="0">
              <a:spcBef>
                <a:spcPts val="0"/>
              </a:spcBef>
              <a:spcAft>
                <a:spcPts val="0"/>
              </a:spcAft>
              <a:buSzPct val="100000"/>
              <a:buChar char="○"/>
            </a:pPr>
            <a:r>
              <a:rPr lang="it"/>
              <a:t>For using the previously described operators, you may need to rearrange/reorganize/add new metadata in your emissions</a:t>
            </a:r>
            <a:endParaRPr/>
          </a:p>
          <a:p>
            <a:pPr marL="914400" lvl="1" indent="-290830" algn="l" rtl="0">
              <a:spcBef>
                <a:spcPts val="0"/>
              </a:spcBef>
              <a:spcAft>
                <a:spcPts val="0"/>
              </a:spcAft>
              <a:buSzPct val="100000"/>
              <a:buChar char="○"/>
            </a:pPr>
            <a:r>
              <a:rPr lang="it"/>
              <a:t>Among the many different thing you could do in map, a useful one is to use regular expressions on files to fetch patterns in file names and extract metadata from these</a:t>
            </a:r>
            <a:endParaRPr/>
          </a:p>
          <a:p>
            <a:pPr marL="1371600" lvl="2" indent="-290830" algn="l" rtl="0">
              <a:spcBef>
                <a:spcPts val="0"/>
              </a:spcBef>
              <a:spcAft>
                <a:spcPts val="0"/>
              </a:spcAft>
              <a:buSzPct val="100000"/>
              <a:buChar char="■"/>
            </a:pPr>
            <a:r>
              <a:rPr lang="it"/>
              <a:t>For example, if you have a file with no attached metadata but you know that the name of the file is the sample it represent, then you can “extract” the sample name from the file name</a:t>
            </a:r>
            <a:endParaRPr/>
          </a:p>
          <a:p>
            <a:pPr marL="457200" lvl="0" indent="-308610" algn="l" rtl="0">
              <a:spcBef>
                <a:spcPts val="0"/>
              </a:spcBef>
              <a:spcAft>
                <a:spcPts val="0"/>
              </a:spcAft>
              <a:buSzPct val="100000"/>
              <a:buChar char="●"/>
            </a:pPr>
            <a:r>
              <a:rPr lang="it"/>
              <a:t>If you need to apply different functions to the same input channel, then you can use .multiMap() instead of using .map() multiple times</a:t>
            </a:r>
            <a:endParaRPr/>
          </a:p>
          <a:p>
            <a:pPr marL="914400" lvl="1" indent="-290830" algn="l" rtl="0">
              <a:spcBef>
                <a:spcPts val="0"/>
              </a:spcBef>
              <a:spcAft>
                <a:spcPts val="0"/>
              </a:spcAft>
              <a:buSzPct val="100000"/>
              <a:buChar char="○"/>
            </a:pPr>
            <a:r>
              <a:rPr lang="it"/>
              <a:t>This is useful if you have one source channel that you need to rearrange in different ways for different purposes</a:t>
            </a:r>
            <a:endParaRPr/>
          </a:p>
          <a:p>
            <a:pPr marL="914400" lvl="1" indent="-290830" algn="l" rtl="0">
              <a:spcBef>
                <a:spcPts val="0"/>
              </a:spcBef>
              <a:spcAft>
                <a:spcPts val="0"/>
              </a:spcAft>
              <a:buSzPct val="100000"/>
              <a:buChar char="○"/>
            </a:pPr>
            <a:r>
              <a:rPr lang="it"/>
              <a:t>From a single channel you will end up with many different named channels but the number of emissions of each of these will be the same as the input channel</a:t>
            </a:r>
            <a:endParaRPr/>
          </a:p>
        </p:txBody>
      </p:sp>
      <p:pic>
        <p:nvPicPr>
          <p:cNvPr id="144" name="Google Shape;144;p26" descr="Make a nice illustration for some advanced Nextflow operators according to these main points: Advanced .map() and .multiMap(). For most of the custom things, the .map() operator is the one that will solve your issues since it allow to apply any function to your channel&#10;For using the previously described operators, you may need to rearrange/reorganize/add new metadata in your emissions&#10;Among the many different thing you could do in map, a useful one is to use regular expressions on files to fetch patterns in file names and extract metadata from these&#10;For example, if you have a file with no attached metadata but you know that the name of the file is the sample it represent, then you can “extract” the sample name from the file name&#10;If you need to apply different functions to the same input channel, then you can use .multiMap() instead of using .map() multiple times&#10;This is useful if you have one source channel that you need to rearrange in different ways for different purposes&#10;From a single channel you will end up with many different named channels but the number of emissions of each of these will be the same as the input channel&#10;"/>
          <p:cNvPicPr preferRelativeResize="0"/>
          <p:nvPr/>
        </p:nvPicPr>
        <p:blipFill>
          <a:blip r:embed="rId3">
            <a:alphaModFix/>
          </a:blip>
          <a:stretch>
            <a:fillRect/>
          </a:stretch>
        </p:blipFill>
        <p:spPr>
          <a:xfrm>
            <a:off x="5302450" y="1095750"/>
            <a:ext cx="3529850" cy="3529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Key concepts and summary</a:t>
            </a:r>
            <a:endParaRPr/>
          </a:p>
        </p:txBody>
      </p:sp>
      <p:sp>
        <p:nvSpPr>
          <p:cNvPr id="150" name="Google Shape;150;p27"/>
          <p:cNvSpPr txBox="1">
            <a:spLocks noGrp="1"/>
          </p:cNvSpPr>
          <p:nvPr>
            <p:ph type="body" idx="1"/>
          </p:nvPr>
        </p:nvSpPr>
        <p:spPr>
          <a:xfrm>
            <a:off x="311700" y="1152475"/>
            <a:ext cx="4750500" cy="3416400"/>
          </a:xfrm>
          <a:prstGeom prst="rect">
            <a:avLst/>
          </a:prstGeom>
        </p:spPr>
        <p:txBody>
          <a:bodyPr spcFirstLastPara="1" wrap="square" lIns="91425" tIns="91425" rIns="91425" bIns="91425" anchor="t" anchorCtr="0">
            <a:normAutofit fontScale="70000" lnSpcReduction="20000"/>
          </a:bodyPr>
          <a:lstStyle/>
          <a:p>
            <a:pPr marL="457200" lvl="0" indent="-308610" algn="l" rtl="0">
              <a:spcBef>
                <a:spcPts val="0"/>
              </a:spcBef>
              <a:spcAft>
                <a:spcPts val="0"/>
              </a:spcAft>
              <a:buSzPct val="100000"/>
              <a:buChar char="●"/>
            </a:pPr>
            <a:r>
              <a:rPr lang="it"/>
              <a:t>Channel represents the main variables of your workflows</a:t>
            </a:r>
            <a:endParaRPr/>
          </a:p>
          <a:p>
            <a:pPr marL="457200" lvl="0" indent="-308610" algn="l" rtl="0">
              <a:spcBef>
                <a:spcPts val="0"/>
              </a:spcBef>
              <a:spcAft>
                <a:spcPts val="0"/>
              </a:spcAft>
              <a:buSzPct val="100000"/>
              <a:buChar char="●"/>
            </a:pPr>
            <a:r>
              <a:rPr lang="it"/>
              <a:t>Using channels properly, avoiding duplication of information and assigning meaningful names/content to them will keep your pipeline code clean and easy to maintain</a:t>
            </a:r>
            <a:endParaRPr/>
          </a:p>
          <a:p>
            <a:pPr marL="914400" lvl="1" indent="-290830" algn="l" rtl="0">
              <a:spcBef>
                <a:spcPts val="0"/>
              </a:spcBef>
              <a:spcAft>
                <a:spcPts val="0"/>
              </a:spcAft>
              <a:buSzPct val="100000"/>
              <a:buChar char="○"/>
            </a:pPr>
            <a:r>
              <a:rPr lang="it"/>
              <a:t>You should work with channels as any other variable in your python scripts: try to follow the “do not repeat yourself” (DRY) principle</a:t>
            </a:r>
            <a:endParaRPr/>
          </a:p>
          <a:p>
            <a:pPr marL="457200" lvl="0" indent="-308610" algn="l" rtl="0">
              <a:spcBef>
                <a:spcPts val="0"/>
              </a:spcBef>
              <a:spcAft>
                <a:spcPts val="0"/>
              </a:spcAft>
              <a:buSzPct val="100000"/>
              <a:buChar char="●"/>
            </a:pPr>
            <a:r>
              <a:rPr lang="it"/>
              <a:t>Operators are the most complex/flexible piece of code you will find in Nextflow</a:t>
            </a:r>
            <a:endParaRPr/>
          </a:p>
          <a:p>
            <a:pPr marL="914400" lvl="1" indent="-290830" algn="l" rtl="0">
              <a:spcBef>
                <a:spcPts val="0"/>
              </a:spcBef>
              <a:spcAft>
                <a:spcPts val="0"/>
              </a:spcAft>
              <a:buSzPct val="100000"/>
              <a:buChar char="○"/>
            </a:pPr>
            <a:r>
              <a:rPr lang="it"/>
              <a:t>Every operator that you will know and master will give you an additional tool to solve complicated tasks that you will find while developing your pipelines</a:t>
            </a:r>
            <a:endParaRPr/>
          </a:p>
          <a:p>
            <a:pPr marL="914400" lvl="1" indent="-290830" algn="l" rtl="0">
              <a:spcBef>
                <a:spcPts val="0"/>
              </a:spcBef>
              <a:spcAft>
                <a:spcPts val="0"/>
              </a:spcAft>
              <a:buSzPct val="100000"/>
              <a:buChar char="○"/>
            </a:pPr>
            <a:r>
              <a:rPr lang="it"/>
              <a:t>As for the channels, follow the DRY principle and avoid using too many unnecessary operators to keep your code clean</a:t>
            </a:r>
            <a:endParaRPr/>
          </a:p>
          <a:p>
            <a:pPr marL="1371600" lvl="2" indent="-290830" algn="l" rtl="0">
              <a:spcBef>
                <a:spcPts val="0"/>
              </a:spcBef>
              <a:spcAft>
                <a:spcPts val="0"/>
              </a:spcAft>
              <a:buSzPct val="100000"/>
              <a:buChar char="■"/>
            </a:pPr>
            <a:r>
              <a:rPr lang="it"/>
              <a:t>100 </a:t>
            </a:r>
            <a:r>
              <a:rPr lang="it">
                <a:highlight>
                  <a:srgbClr val="B7B7B7"/>
                </a:highlight>
                <a:latin typeface="Courier New"/>
                <a:ea typeface="Courier New"/>
                <a:cs typeface="Courier New"/>
                <a:sym typeface="Courier New"/>
              </a:rPr>
              <a:t>.map()</a:t>
            </a:r>
            <a:r>
              <a:rPr lang="it"/>
              <a:t> operations on a channel followed by 30 </a:t>
            </a:r>
            <a:r>
              <a:rPr lang="it">
                <a:highlight>
                  <a:srgbClr val="B7B7B7"/>
                </a:highlight>
                <a:latin typeface="Courier New"/>
                <a:ea typeface="Courier New"/>
                <a:cs typeface="Courier New"/>
                <a:sym typeface="Courier New"/>
              </a:rPr>
              <a:t>.join()</a:t>
            </a:r>
            <a:r>
              <a:rPr lang="it"/>
              <a:t> maybe are not that necessary</a:t>
            </a:r>
            <a:endParaRPr/>
          </a:p>
        </p:txBody>
      </p:sp>
      <p:pic>
        <p:nvPicPr>
          <p:cNvPr id="151" name="Google Shape;151;p27" descr="Make a nice illustration to represent the main take-away messages about Nextflow channels and operators according to these main points: Channel represents the main variables of your workflows&#10;Using channels properly, avoiding duplication of information and assigning meaningful names/content to them will keep your pipeline code clean and easy to maintain&#10;You should work with channels as any other variable in your python scripts: try to follow the “do not repeat yourself” (DRY) principle&#10;Operators are the most complex/flexible piece of code you will find in Nextflow&#10;Every operator that you will know and master will give you an additional tool to solve complicated tasks that you will find while developing your pipelines&#10;As for the channels, follow the DRY principle and avoid using too many unnecessary operators to keep your code clean&#10;100 .map() operations on a channel followed by 30 .join() maybe are not that necessary"/>
          <p:cNvPicPr preferRelativeResize="0"/>
          <p:nvPr/>
        </p:nvPicPr>
        <p:blipFill>
          <a:blip r:embed="rId3">
            <a:alphaModFix/>
          </a:blip>
          <a:stretch>
            <a:fillRect/>
          </a:stretch>
        </p:blipFill>
        <p:spPr>
          <a:xfrm>
            <a:off x="5278450" y="1049200"/>
            <a:ext cx="3622950" cy="3622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Let’s play with operators!</a:t>
            </a:r>
            <a:endParaRPr/>
          </a:p>
        </p:txBody>
      </p:sp>
      <p:sp>
        <p:nvSpPr>
          <p:cNvPr id="157" name="Google Shape;157;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lvl="0"/>
            <a:r>
              <a:rPr lang="it" dirty="0"/>
              <a:t>You will find this second batch of exercises in the repository at the following path: </a:t>
            </a:r>
            <a:r>
              <a:rPr lang="it" dirty="0">
                <a:highlight>
                  <a:srgbClr val="B7B7B7"/>
                </a:highlight>
                <a:latin typeface="Courier New"/>
                <a:ea typeface="Courier New"/>
                <a:cs typeface="Courier New"/>
                <a:sym typeface="Courier New"/>
              </a:rPr>
              <a:t>practicals/day1/4_operators_playground/</a:t>
            </a:r>
            <a:endParaRPr dirty="0">
              <a:highlight>
                <a:srgbClr val="B7B7B7"/>
              </a:highlight>
              <a:latin typeface="Courier New"/>
              <a:ea typeface="Courier New"/>
              <a:cs typeface="Courier New"/>
              <a:sym typeface="Courier New"/>
            </a:endParaRPr>
          </a:p>
          <a:p>
            <a:pPr marL="914400" lvl="1" indent="-317500" algn="l" rtl="0">
              <a:spcBef>
                <a:spcPts val="0"/>
              </a:spcBef>
              <a:spcAft>
                <a:spcPts val="0"/>
              </a:spcAft>
              <a:buSzPts val="1400"/>
              <a:buChar char="○"/>
            </a:pPr>
            <a:r>
              <a:rPr lang="it" dirty="0"/>
              <a:t>Here you will find a README with your exercises</a:t>
            </a:r>
            <a:endParaRPr dirty="0"/>
          </a:p>
          <a:p>
            <a:pPr marL="1371600" lvl="2" indent="-317500" algn="l" rtl="0">
              <a:spcBef>
                <a:spcPts val="0"/>
              </a:spcBef>
              <a:spcAft>
                <a:spcPts val="0"/>
              </a:spcAft>
              <a:buSzPts val="1400"/>
              <a:buChar char="■"/>
            </a:pPr>
            <a:r>
              <a:rPr lang="it" dirty="0"/>
              <a:t>For each exercise, you will find a “initialised” version of the task if you need some hint and the solution</a:t>
            </a:r>
            <a:endParaRPr dirty="0"/>
          </a:p>
          <a:p>
            <a:pPr marL="914400" lvl="1" indent="-317500" algn="l" rtl="0">
              <a:spcBef>
                <a:spcPts val="0"/>
              </a:spcBef>
              <a:spcAft>
                <a:spcPts val="0"/>
              </a:spcAft>
              <a:buSzPts val="1400"/>
              <a:buChar char="○"/>
            </a:pPr>
            <a:r>
              <a:rPr lang="it" dirty="0"/>
              <a:t>The input files needed are located in that directory</a:t>
            </a:r>
            <a:endParaRPr dirty="0"/>
          </a:p>
          <a:p>
            <a:pPr marL="1371600" lvl="2" indent="-317500" algn="l" rtl="0">
              <a:spcBef>
                <a:spcPts val="0"/>
              </a:spcBef>
              <a:spcAft>
                <a:spcPts val="0"/>
              </a:spcAft>
              <a:buSzPts val="1400"/>
              <a:buChar char="■"/>
            </a:pPr>
            <a:r>
              <a:rPr lang="it" dirty="0"/>
              <a:t>metadata.csv</a:t>
            </a:r>
            <a:endParaRPr dirty="0"/>
          </a:p>
          <a:p>
            <a:pPr marL="1371600" lvl="2" indent="-317500" algn="l" rtl="0">
              <a:spcBef>
                <a:spcPts val="0"/>
              </a:spcBef>
              <a:spcAft>
                <a:spcPts val="0"/>
              </a:spcAft>
              <a:buSzPts val="1400"/>
              <a:buChar char="■"/>
            </a:pPr>
            <a:r>
              <a:rPr lang="it" dirty="0"/>
              <a:t>nextflow.config → modify this file with the correct path to the csv and tsv files</a:t>
            </a:r>
            <a:endParaRPr dirty="0"/>
          </a:p>
          <a:p>
            <a:pPr marL="1828800" lvl="3" indent="-317500" algn="l" rtl="0">
              <a:spcBef>
                <a:spcPts val="0"/>
              </a:spcBef>
              <a:spcAft>
                <a:spcPts val="0"/>
              </a:spcAft>
              <a:buSzPts val="1400"/>
              <a:buChar char="●"/>
            </a:pPr>
            <a:r>
              <a:rPr lang="it" dirty="0"/>
              <a:t>In alternative you can use the params.yaml to define your parameters</a:t>
            </a:r>
            <a:endParaRPr dirty="0"/>
          </a:p>
          <a:p>
            <a:pPr marL="914400" lvl="1" indent="-317500" algn="l" rtl="0">
              <a:spcBef>
                <a:spcPts val="0"/>
              </a:spcBef>
              <a:spcAft>
                <a:spcPts val="0"/>
              </a:spcAft>
              <a:buSzPts val="1400"/>
              <a:buChar char="○"/>
            </a:pPr>
            <a:r>
              <a:rPr lang="it" dirty="0"/>
              <a:t>You will also find a file named </a:t>
            </a:r>
            <a:r>
              <a:rPr lang="it" dirty="0">
                <a:highlight>
                  <a:srgbClr val="B7B7B7"/>
                </a:highlight>
                <a:latin typeface="Courier New"/>
                <a:ea typeface="Courier New"/>
                <a:cs typeface="Courier New"/>
                <a:sym typeface="Courier New"/>
              </a:rPr>
              <a:t>hello-nextflow.nf</a:t>
            </a:r>
            <a:r>
              <a:rPr lang="it" dirty="0"/>
              <a:t> where all the exercise solutions are written in a unique workflow → do not cheat, look at it only after the exercise section ;)</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2491</Words>
  <Application>Microsoft Office PowerPoint</Application>
  <PresentationFormat>Presentazione su schermo (16:9)</PresentationFormat>
  <Paragraphs>137</Paragraphs>
  <Slides>16</Slides>
  <Notes>16</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16</vt:i4>
      </vt:variant>
    </vt:vector>
  </HeadingPairs>
  <TitlesOfParts>
    <vt:vector size="19" baseType="lpstr">
      <vt:lpstr>Arial</vt:lpstr>
      <vt:lpstr>Courier New</vt:lpstr>
      <vt:lpstr>Simple Light</vt:lpstr>
      <vt:lpstr>Hello Nextflow</vt:lpstr>
      <vt:lpstr>Connect your processes in a workflow: channels</vt:lpstr>
      <vt:lpstr>Creating a new channel: channel factories</vt:lpstr>
      <vt:lpstr>Working with channels: operators</vt:lpstr>
      <vt:lpstr>Closures: custom unnamed functions</vt:lpstr>
      <vt:lpstr>Basic operators: .view(), .count(), .mix(), .splitCsv(), .map()</vt:lpstr>
      <vt:lpstr>Create your initial channel from a csv/tsv file</vt:lpstr>
      <vt:lpstr>Let’s get our hands dirty!</vt:lpstr>
      <vt:lpstr>Emission order in channels: .mix() and .concat() difference</vt:lpstr>
      <vt:lpstr>Group and ungroup: .groupTuple(), .transpose() and .flatten()</vt:lpstr>
      <vt:lpstr>Collecting emissions in a single one: .collect() and .collectFile()</vt:lpstr>
      <vt:lpstr>Subset using logical conditions: .filter() and .branch()</vt:lpstr>
      <vt:lpstr>Combine channels: .join() and .merge()</vt:lpstr>
      <vt:lpstr>Advanced .map() and .multiMap()</vt:lpstr>
      <vt:lpstr>Key concepts and summary</vt:lpstr>
      <vt:lpstr>Let’s play with operators!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Luigi Lamparelli</cp:lastModifiedBy>
  <cp:revision>2</cp:revision>
  <dcterms:modified xsi:type="dcterms:W3CDTF">2026-01-23T08:43:34Z</dcterms:modified>
</cp:coreProperties>
</file>