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  <p:sldMasterId id="2147483669" r:id="rId5"/>
  </p:sldMasterIdLst>
  <p:notesMasterIdLst>
    <p:notesMasterId r:id="rId11"/>
  </p:notesMasterIdLst>
  <p:handoutMasterIdLst>
    <p:handoutMasterId r:id="rId12"/>
  </p:handoutMasterIdLst>
  <p:sldIdLst>
    <p:sldId id="283" r:id="rId6"/>
    <p:sldId id="280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SLIDES" id="{1749344C-AE41-4B91-9FF0-3F136716C271}">
          <p14:sldIdLst>
            <p14:sldId id="283"/>
            <p14:sldId id="280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459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6" pos="2525" userDrawn="1">
          <p15:clr>
            <a:srgbClr val="A4A3A4"/>
          </p15:clr>
        </p15:guide>
        <p15:guide id="7" orient="horz" pos="8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94689"/>
  </p:normalViewPr>
  <p:slideViewPr>
    <p:cSldViewPr snapToGrid="0">
      <p:cViewPr varScale="1">
        <p:scale>
          <a:sx n="147" d="100"/>
          <a:sy n="147" d="100"/>
        </p:scale>
        <p:origin x="1104" y="200"/>
      </p:cViewPr>
      <p:guideLst>
        <p:guide pos="3840"/>
        <p:guide orient="horz" pos="459"/>
        <p:guide orient="horz" pos="3861"/>
        <p:guide pos="2525"/>
        <p:guide orient="horz" pos="89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206A52-215D-EE3B-6A6B-6A3DA8C7A2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56515DC-85F0-BC5A-D822-33396CA2AF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413BE9-3FE9-7340-93F1-CF87C75D8175}" type="datetimeFigureOut">
              <a:rPr lang="it-IT" smtClean="0"/>
              <a:t>21/01/26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3EABB4B-BF62-A3D6-9FF0-1B62D39383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00816F-9407-A5E7-7CA3-C8BC04793C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CB10A-4C6C-4247-B7AB-71860E3D699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3689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E0351-17F3-7247-8CCF-753EA3F22A31}" type="datetimeFigureOut">
              <a:rPr lang="it-IT" smtClean="0"/>
              <a:t>21/01/26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942B5-DBD0-2F47-BD75-AAD4252768E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534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technopole.it/en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technopole.it/en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technopole.it/en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humantechnopole.it/en/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technopole.it/en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humantechnopole.it/en/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humantechnopole.it/en/" TargetMode="Externa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humantechnopole.it/en/" TargetMode="Externa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humantechnopole.it/en/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technopole.it/en/" TargetMode="External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humantechnopole.it/en/" TargetMode="Externa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humantechnopole.it/en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humantechnopole.it/en/" TargetMode="Externa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technopole.it/en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CBAE5A8E-7885-5527-D3C0-3A07BBF06116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84000">
                <a:schemeClr val="accent1">
                  <a:alpha val="35062"/>
                </a:schemeClr>
              </a:gs>
              <a:gs pos="100000">
                <a:schemeClr val="accent1">
                  <a:alpha val="74896"/>
                </a:schemeClr>
              </a:gs>
              <a:gs pos="54000">
                <a:schemeClr val="bg1">
                  <a:alpha val="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4C93070-8182-553B-A33F-BBBFDABBB6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740" b="8740"/>
          <a:stretch/>
        </p:blipFill>
        <p:spPr>
          <a:xfrm flipV="1">
            <a:off x="-19144" y="0"/>
            <a:ext cx="12192001" cy="6857998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9FFCD26-376C-6BB6-D278-79528B8049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15938" y="728664"/>
            <a:ext cx="2925762" cy="69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014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724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2D93D91-3036-37A4-B7D1-A871CFD72D27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 flip="none" rotWithShape="1">
            <a:gsLst>
              <a:gs pos="84000">
                <a:schemeClr val="accent1">
                  <a:alpha val="35062"/>
                </a:schemeClr>
              </a:gs>
              <a:gs pos="100000">
                <a:schemeClr val="accent1">
                  <a:alpha val="74896"/>
                </a:schemeClr>
              </a:gs>
              <a:gs pos="54000">
                <a:schemeClr val="bg1">
                  <a:alpha val="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591FFE3-560B-BBD4-4E59-80CB0C3AC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006E38E1-A0BB-7429-98F0-F99EC54B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2918" y="6327867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egnaposto piè di pagina 4">
            <a:hlinkClick r:id="rId3"/>
            <a:extLst>
              <a:ext uri="{FF2B5EF4-FFF2-40B4-BE49-F238E27FC236}">
                <a16:creationId xmlns:a16="http://schemas.microsoft.com/office/drawing/2014/main" id="{CE72161C-617B-A309-DCD8-3D2B6098A566}"/>
              </a:ext>
            </a:extLst>
          </p:cNvPr>
          <p:cNvSpPr txBox="1">
            <a:spLocks/>
          </p:cNvSpPr>
          <p:nvPr userDrawn="1"/>
        </p:nvSpPr>
        <p:spPr>
          <a:xfrm>
            <a:off x="4038600" y="6156942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4C5F1D4-752F-D454-3642-8B3A1DDE23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651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2D93D91-3036-37A4-B7D1-A871CFD72D27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 flip="none" rotWithShape="1">
            <a:gsLst>
              <a:gs pos="84000">
                <a:schemeClr val="accent1">
                  <a:alpha val="35062"/>
                </a:schemeClr>
              </a:gs>
              <a:gs pos="100000">
                <a:schemeClr val="accent1">
                  <a:alpha val="74896"/>
                </a:schemeClr>
              </a:gs>
              <a:gs pos="54000">
                <a:schemeClr val="bg1">
                  <a:alpha val="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591FFE3-560B-BBD4-4E59-80CB0C3AC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006E38E1-A0BB-7429-98F0-F99EC54B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2918" y="6327867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egnaposto piè di pagina 4">
            <a:hlinkClick r:id="rId3"/>
            <a:extLst>
              <a:ext uri="{FF2B5EF4-FFF2-40B4-BE49-F238E27FC236}">
                <a16:creationId xmlns:a16="http://schemas.microsoft.com/office/drawing/2014/main" id="{CE72161C-617B-A309-DCD8-3D2B6098A566}"/>
              </a:ext>
            </a:extLst>
          </p:cNvPr>
          <p:cNvSpPr txBox="1">
            <a:spLocks/>
          </p:cNvSpPr>
          <p:nvPr userDrawn="1"/>
        </p:nvSpPr>
        <p:spPr>
          <a:xfrm>
            <a:off x="4038600" y="6156942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4C5F1D4-752F-D454-3642-8B3A1DDE23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70000" contrast="-70000"/>
            <a:alphaModFix amt="70000"/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9448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7591FFE3-560B-BBD4-4E59-80CB0C3AC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006E38E1-A0BB-7429-98F0-F99EC54B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2918" y="6327867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egnaposto piè di pagina 4">
            <a:hlinkClick r:id="rId3"/>
            <a:extLst>
              <a:ext uri="{FF2B5EF4-FFF2-40B4-BE49-F238E27FC236}">
                <a16:creationId xmlns:a16="http://schemas.microsoft.com/office/drawing/2014/main" id="{CE72161C-617B-A309-DCD8-3D2B6098A566}"/>
              </a:ext>
            </a:extLst>
          </p:cNvPr>
          <p:cNvSpPr txBox="1">
            <a:spLocks/>
          </p:cNvSpPr>
          <p:nvPr userDrawn="1"/>
        </p:nvSpPr>
        <p:spPr>
          <a:xfrm>
            <a:off x="4038600" y="6156942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74C5F1D4-752F-D454-3642-8B3A1DDE23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2665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74C5F1D4-752F-D454-3642-8B3A1DDE23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591FFE3-560B-BBD4-4E59-80CB0C3AC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006E38E1-A0BB-7429-98F0-F99EC54B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2918" y="6327867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egnaposto piè di pagina 4">
            <a:hlinkClick r:id="rId4"/>
            <a:extLst>
              <a:ext uri="{FF2B5EF4-FFF2-40B4-BE49-F238E27FC236}">
                <a16:creationId xmlns:a16="http://schemas.microsoft.com/office/drawing/2014/main" id="{CE72161C-617B-A309-DCD8-3D2B6098A566}"/>
              </a:ext>
            </a:extLst>
          </p:cNvPr>
          <p:cNvSpPr txBox="1">
            <a:spLocks/>
          </p:cNvSpPr>
          <p:nvPr userDrawn="1"/>
        </p:nvSpPr>
        <p:spPr>
          <a:xfrm>
            <a:off x="4038600" y="6156942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chemeClr val="accent1"/>
                </a:solidFill>
              </a:rPr>
              <a:t>humantechnopole.it</a:t>
            </a:r>
          </a:p>
        </p:txBody>
      </p:sp>
    </p:spTree>
    <p:extLst>
      <p:ext uri="{BB962C8B-B14F-4D97-AF65-F5344CB8AC3E}">
        <p14:creationId xmlns:p14="http://schemas.microsoft.com/office/powerpoint/2010/main" val="21461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7591FFE3-560B-BBD4-4E59-80CB0C3AC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006E38E1-A0BB-7429-98F0-F99EC54B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3293" y="6326426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egnaposto piè di pagina 4">
            <a:hlinkClick r:id="rId3"/>
            <a:extLst>
              <a:ext uri="{FF2B5EF4-FFF2-40B4-BE49-F238E27FC236}">
                <a16:creationId xmlns:a16="http://schemas.microsoft.com/office/drawing/2014/main" id="{CE72161C-617B-A309-DCD8-3D2B6098A566}"/>
              </a:ext>
            </a:extLst>
          </p:cNvPr>
          <p:cNvSpPr txBox="1">
            <a:spLocks/>
          </p:cNvSpPr>
          <p:nvPr userDrawn="1"/>
        </p:nvSpPr>
        <p:spPr>
          <a:xfrm>
            <a:off x="4038600" y="6143515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</p:spTree>
    <p:extLst>
      <p:ext uri="{BB962C8B-B14F-4D97-AF65-F5344CB8AC3E}">
        <p14:creationId xmlns:p14="http://schemas.microsoft.com/office/powerpoint/2010/main" val="3898176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Policromia, blu, aqua, verde&#10;&#10;Descrizione generata automaticamente">
            <a:extLst>
              <a:ext uri="{FF2B5EF4-FFF2-40B4-BE49-F238E27FC236}">
                <a16:creationId xmlns:a16="http://schemas.microsoft.com/office/drawing/2014/main" id="{D67B83EA-421F-4468-4789-9397C95F71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magine 1" descr="Immagine che contiene Elementi grafici, Carattere, grafica, testo&#10;&#10;Descrizione generata automaticamente">
            <a:extLst>
              <a:ext uri="{FF2B5EF4-FFF2-40B4-BE49-F238E27FC236}">
                <a16:creationId xmlns:a16="http://schemas.microsoft.com/office/drawing/2014/main" id="{6804DE08-E4D2-C049-7755-74C4793FF9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9" name="Segnaposto numero diapositiva 4">
            <a:extLst>
              <a:ext uri="{FF2B5EF4-FFF2-40B4-BE49-F238E27FC236}">
                <a16:creationId xmlns:a16="http://schemas.microsoft.com/office/drawing/2014/main" id="{2E4C785F-1E56-77A3-427D-BB7A1663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2955" y="6313890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Segnaposto piè di pagina 4">
            <a:hlinkClick r:id="rId4"/>
            <a:extLst>
              <a:ext uri="{FF2B5EF4-FFF2-40B4-BE49-F238E27FC236}">
                <a16:creationId xmlns:a16="http://schemas.microsoft.com/office/drawing/2014/main" id="{3D6E473E-67AE-5805-8430-7EBBA2CD95F2}"/>
              </a:ext>
            </a:extLst>
          </p:cNvPr>
          <p:cNvSpPr txBox="1">
            <a:spLocks/>
          </p:cNvSpPr>
          <p:nvPr userDrawn="1"/>
        </p:nvSpPr>
        <p:spPr>
          <a:xfrm>
            <a:off x="4038600" y="6148758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chemeClr val="bg1"/>
                </a:solidFill>
              </a:rPr>
              <a:t>humantechnopole.it</a:t>
            </a:r>
          </a:p>
        </p:txBody>
      </p:sp>
      <p:pic>
        <p:nvPicPr>
          <p:cNvPr id="4" name="Immagine 3" descr="Immagine che contiene schermata, oscurità, linea, nero&#10;&#10;Descrizione generata automaticamente">
            <a:extLst>
              <a:ext uri="{FF2B5EF4-FFF2-40B4-BE49-F238E27FC236}">
                <a16:creationId xmlns:a16="http://schemas.microsoft.com/office/drawing/2014/main" id="{376195FF-D5F8-05BE-B10F-E2A84A1482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8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748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18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4088" userDrawn="1">
          <p15:clr>
            <a:srgbClr val="FBAE40"/>
          </p15:clr>
        </p15:guide>
        <p15:guide id="4" orient="horz" pos="374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iano Strateg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>
            <a:extLst>
              <a:ext uri="{FF2B5EF4-FFF2-40B4-BE49-F238E27FC236}">
                <a16:creationId xmlns:a16="http://schemas.microsoft.com/office/drawing/2014/main" id="{43709759-0E47-884B-9CD9-AD6D4EE41C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6777722C-718B-9843-8860-1D5388412E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8196"/>
            <a:ext cx="6244507" cy="907598"/>
          </a:xfrm>
          <a:prstGeom prst="rect">
            <a:avLst/>
          </a:prstGeom>
        </p:spPr>
        <p:txBody>
          <a:bodyPr anchor="b"/>
          <a:lstStyle>
            <a:lvl1pPr>
              <a:lnSpc>
                <a:spcPts val="3360"/>
              </a:lnSpc>
              <a:defRPr sz="2200" b="0" i="0">
                <a:solidFill>
                  <a:srgbClr val="A2C0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l" defTabSz="914400" rtl="0" eaLnBrk="1" latinLnBrk="0" hangingPunct="1">
              <a:lnSpc>
                <a:spcPts val="3360"/>
              </a:lnSpc>
              <a:spcBef>
                <a:spcPct val="0"/>
              </a:spcBef>
              <a:buNone/>
            </a:pPr>
            <a:r>
              <a:rPr lang="it-IT" sz="2200" b="0" i="0" kern="1200" err="1">
                <a:solidFill>
                  <a:srgbClr val="A2C037"/>
                </a:solidFill>
                <a:effectLst/>
                <a:latin typeface="Avenir Next" panose="020B0503020202020204" pitchFamily="34" charset="0"/>
                <a:ea typeface="+mj-ea"/>
                <a:cs typeface="Arial" panose="020B0604020202020204" pitchFamily="34" charset="0"/>
              </a:rPr>
              <a:t>Improving</a:t>
            </a:r>
            <a:r>
              <a:rPr lang="it-IT" sz="2200" b="0" i="0" kern="1200">
                <a:solidFill>
                  <a:srgbClr val="A2C037"/>
                </a:solidFill>
                <a:effectLst/>
                <a:latin typeface="Avenir Next" panose="020B0503020202020204" pitchFamily="34" charset="0"/>
                <a:ea typeface="+mj-ea"/>
                <a:cs typeface="Arial" panose="020B0604020202020204" pitchFamily="34" charset="0"/>
              </a:rPr>
              <a:t> human life and </a:t>
            </a:r>
            <a:r>
              <a:rPr lang="it-IT" sz="2200" b="0" i="0" kern="1200" err="1">
                <a:solidFill>
                  <a:srgbClr val="A2C037"/>
                </a:solidFill>
                <a:effectLst/>
                <a:latin typeface="Avenir Next" panose="020B0503020202020204" pitchFamily="34" charset="0"/>
                <a:ea typeface="+mj-ea"/>
                <a:cs typeface="Arial" panose="020B0604020202020204" pitchFamily="34" charset="0"/>
              </a:rPr>
              <a:t>technology</a:t>
            </a:r>
            <a:endParaRPr lang="it-IT" sz="2200" b="0" i="0" kern="1200">
              <a:solidFill>
                <a:srgbClr val="A2C037"/>
              </a:solidFill>
              <a:effectLst/>
              <a:latin typeface="Avenir Next" panose="020B0503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42E6AB72-07D4-044E-8DDF-7776946E55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687616"/>
            <a:ext cx="4251913" cy="252916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LUOGO / DATA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2692F4D-D3A9-1343-84BE-1710858B2923}"/>
              </a:ext>
            </a:extLst>
          </p:cNvPr>
          <p:cNvSpPr txBox="1"/>
          <p:nvPr/>
        </p:nvSpPr>
        <p:spPr>
          <a:xfrm>
            <a:off x="1916723" y="36224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5A5F02C-424F-0849-A1FC-00A8FBED9677}"/>
              </a:ext>
            </a:extLst>
          </p:cNvPr>
          <p:cNvSpPr txBox="1"/>
          <p:nvPr userDrawn="1"/>
        </p:nvSpPr>
        <p:spPr>
          <a:xfrm>
            <a:off x="1916723" y="36224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noProof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73AF3FE-37C0-8BB6-19AA-324C564686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15938" y="2256945"/>
            <a:ext cx="4915619" cy="11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47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40217-5B84-D6B4-3615-840F2C513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magine 4" descr="Immagine che contiene Elementi grafici, Carattere, grafica, testo&#10;&#10;Descrizione generata automaticamente">
            <a:extLst>
              <a:ext uri="{FF2B5EF4-FFF2-40B4-BE49-F238E27FC236}">
                <a16:creationId xmlns:a16="http://schemas.microsoft.com/office/drawing/2014/main" id="{A8427749-3220-AC20-D252-55A2DB819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7" name="Segnaposto piè di pagina 4">
            <a:hlinkClick r:id="rId4"/>
            <a:extLst>
              <a:ext uri="{FF2B5EF4-FFF2-40B4-BE49-F238E27FC236}">
                <a16:creationId xmlns:a16="http://schemas.microsoft.com/office/drawing/2014/main" id="{0557C1F8-F045-36A8-28BC-A4543CA2549E}"/>
              </a:ext>
            </a:extLst>
          </p:cNvPr>
          <p:cNvSpPr txBox="1">
            <a:spLocks/>
          </p:cNvSpPr>
          <p:nvPr userDrawn="1"/>
        </p:nvSpPr>
        <p:spPr>
          <a:xfrm>
            <a:off x="4038600" y="6128765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chemeClr val="bg1"/>
                </a:solidFill>
              </a:rPr>
              <a:t>humantechnopole.it</a:t>
            </a: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81CE047C-B665-A5F5-3326-20EEB02C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816" y="6266395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966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40217-5B84-D6B4-3615-840F2C513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8427749-3220-AC20-D252-55A2DB819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7296" y="6129338"/>
            <a:ext cx="1512004" cy="360000"/>
          </a:xfrm>
          <a:prstGeom prst="rect">
            <a:avLst/>
          </a:prstGeom>
        </p:spPr>
      </p:pic>
      <p:sp>
        <p:nvSpPr>
          <p:cNvPr id="7" name="Segnaposto piè di pagina 4">
            <a:hlinkClick r:id="rId4"/>
            <a:extLst>
              <a:ext uri="{FF2B5EF4-FFF2-40B4-BE49-F238E27FC236}">
                <a16:creationId xmlns:a16="http://schemas.microsoft.com/office/drawing/2014/main" id="{0557C1F8-F045-36A8-28BC-A4543CA2549E}"/>
              </a:ext>
            </a:extLst>
          </p:cNvPr>
          <p:cNvSpPr txBox="1">
            <a:spLocks/>
          </p:cNvSpPr>
          <p:nvPr userDrawn="1"/>
        </p:nvSpPr>
        <p:spPr>
          <a:xfrm>
            <a:off x="4038600" y="6124213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06E44122-754C-F6C1-5393-EB8D489D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816" y="6266395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34ED7A58-C13D-DB56-4C59-B357F653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D87DCB9-0473-B82C-B4AA-547B7FFFC880}"/>
              </a:ext>
            </a:extLst>
          </p:cNvPr>
          <p:cNvSpPr>
            <a:spLocks/>
          </p:cNvSpPr>
          <p:nvPr/>
        </p:nvSpPr>
        <p:spPr>
          <a:xfrm>
            <a:off x="533314" y="1542633"/>
            <a:ext cx="1584000" cy="4430222"/>
          </a:xfrm>
          <a:prstGeom prst="rect">
            <a:avLst/>
          </a:prstGeom>
          <a:solidFill>
            <a:schemeClr val="accent1">
              <a:alpha val="1039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C95F380-35A7-49DA-36D2-1680AD8B6BC1}"/>
              </a:ext>
            </a:extLst>
          </p:cNvPr>
          <p:cNvSpPr>
            <a:spLocks/>
          </p:cNvSpPr>
          <p:nvPr/>
        </p:nvSpPr>
        <p:spPr>
          <a:xfrm>
            <a:off x="10106981" y="1565537"/>
            <a:ext cx="1584000" cy="4407318"/>
          </a:xfrm>
          <a:prstGeom prst="rect">
            <a:avLst/>
          </a:prstGeom>
          <a:solidFill>
            <a:schemeClr val="accent1">
              <a:alpha val="1039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A5F2FAB-9AF2-36BC-1D24-4DC00A9F7ABB}"/>
              </a:ext>
            </a:extLst>
          </p:cNvPr>
          <p:cNvSpPr>
            <a:spLocks/>
          </p:cNvSpPr>
          <p:nvPr/>
        </p:nvSpPr>
        <p:spPr>
          <a:xfrm>
            <a:off x="6915758" y="1542633"/>
            <a:ext cx="1584000" cy="4430222"/>
          </a:xfrm>
          <a:prstGeom prst="rect">
            <a:avLst/>
          </a:prstGeom>
          <a:solidFill>
            <a:schemeClr val="accent1">
              <a:alpha val="1039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B1EBE97-A2D8-CB98-D624-7EB0301DCD01}"/>
              </a:ext>
            </a:extLst>
          </p:cNvPr>
          <p:cNvSpPr>
            <a:spLocks/>
          </p:cNvSpPr>
          <p:nvPr/>
        </p:nvSpPr>
        <p:spPr>
          <a:xfrm>
            <a:off x="3724536" y="1542633"/>
            <a:ext cx="1584000" cy="4430222"/>
          </a:xfrm>
          <a:prstGeom prst="rect">
            <a:avLst/>
          </a:prstGeom>
          <a:solidFill>
            <a:schemeClr val="accent1">
              <a:alpha val="1039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9550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40217-5B84-D6B4-3615-840F2C513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8427749-3220-AC20-D252-55A2DB819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07296" y="6129338"/>
            <a:ext cx="1512004" cy="360000"/>
          </a:xfrm>
          <a:prstGeom prst="rect">
            <a:avLst/>
          </a:prstGeom>
        </p:spPr>
      </p:pic>
      <p:sp>
        <p:nvSpPr>
          <p:cNvPr id="7" name="Segnaposto piè di pagina 4">
            <a:hlinkClick r:id="rId4"/>
            <a:extLst>
              <a:ext uri="{FF2B5EF4-FFF2-40B4-BE49-F238E27FC236}">
                <a16:creationId xmlns:a16="http://schemas.microsoft.com/office/drawing/2014/main" id="{0557C1F8-F045-36A8-28BC-A4543CA2549E}"/>
              </a:ext>
            </a:extLst>
          </p:cNvPr>
          <p:cNvSpPr txBox="1">
            <a:spLocks/>
          </p:cNvSpPr>
          <p:nvPr userDrawn="1"/>
        </p:nvSpPr>
        <p:spPr>
          <a:xfrm>
            <a:off x="4038600" y="6124213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06E44122-754C-F6C1-5393-EB8D489D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816" y="6266395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34ED7A58-C13D-DB56-4C59-B357F653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613954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8427749-3220-AC20-D252-55A2DB8193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7296" y="6129338"/>
            <a:ext cx="1512004" cy="360000"/>
          </a:xfrm>
          <a:prstGeom prst="rect">
            <a:avLst/>
          </a:prstGeom>
        </p:spPr>
      </p:pic>
      <p:sp>
        <p:nvSpPr>
          <p:cNvPr id="7" name="Segnaposto piè di pagina 4">
            <a:hlinkClick r:id="rId3"/>
            <a:extLst>
              <a:ext uri="{FF2B5EF4-FFF2-40B4-BE49-F238E27FC236}">
                <a16:creationId xmlns:a16="http://schemas.microsoft.com/office/drawing/2014/main" id="{0557C1F8-F045-36A8-28BC-A4543CA2549E}"/>
              </a:ext>
            </a:extLst>
          </p:cNvPr>
          <p:cNvSpPr txBox="1">
            <a:spLocks/>
          </p:cNvSpPr>
          <p:nvPr userDrawn="1"/>
        </p:nvSpPr>
        <p:spPr>
          <a:xfrm>
            <a:off x="4038600" y="6124213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06E44122-754C-F6C1-5393-EB8D489DF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816" y="6266395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34ED7A58-C13D-DB56-4C59-B357F653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306679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40217-5B84-D6B4-3615-840F2C513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8427749-3220-AC20-D252-55A2DB819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15938" y="6138670"/>
            <a:ext cx="1512000" cy="360000"/>
          </a:xfrm>
          <a:prstGeom prst="rect">
            <a:avLst/>
          </a:prstGeom>
        </p:spPr>
      </p:pic>
      <p:sp>
        <p:nvSpPr>
          <p:cNvPr id="7" name="Segnaposto piè di pagina 4">
            <a:hlinkClick r:id="rId4"/>
            <a:extLst>
              <a:ext uri="{FF2B5EF4-FFF2-40B4-BE49-F238E27FC236}">
                <a16:creationId xmlns:a16="http://schemas.microsoft.com/office/drawing/2014/main" id="{0557C1F8-F045-36A8-28BC-A4543CA2549E}"/>
              </a:ext>
            </a:extLst>
          </p:cNvPr>
          <p:cNvSpPr txBox="1">
            <a:spLocks/>
          </p:cNvSpPr>
          <p:nvPr userDrawn="1"/>
        </p:nvSpPr>
        <p:spPr>
          <a:xfrm>
            <a:off x="4038600" y="6133545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  <p:sp>
        <p:nvSpPr>
          <p:cNvPr id="10" name="Segnaposto numero diapositiva 4">
            <a:extLst>
              <a:ext uri="{FF2B5EF4-FFF2-40B4-BE49-F238E27FC236}">
                <a16:creationId xmlns:a16="http://schemas.microsoft.com/office/drawing/2014/main" id="{6673C5E6-ACB0-1148-6A1D-2D9E0434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816" y="6266395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564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40217-5B84-D6B4-3615-840F2C513A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8427749-3220-AC20-D252-55A2DB819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7" name="Segnaposto piè di pagina 4">
            <a:hlinkClick r:id="rId4"/>
            <a:extLst>
              <a:ext uri="{FF2B5EF4-FFF2-40B4-BE49-F238E27FC236}">
                <a16:creationId xmlns:a16="http://schemas.microsoft.com/office/drawing/2014/main" id="{0557C1F8-F045-36A8-28BC-A4543CA2549E}"/>
              </a:ext>
            </a:extLst>
          </p:cNvPr>
          <p:cNvSpPr txBox="1">
            <a:spLocks/>
          </p:cNvSpPr>
          <p:nvPr userDrawn="1"/>
        </p:nvSpPr>
        <p:spPr>
          <a:xfrm>
            <a:off x="4038600" y="6128765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6AB787C9-95BD-943F-3AED-ECB49ED03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816" y="6266395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135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40217-5B84-D6B4-3615-840F2C513A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8427749-3220-AC20-D252-55A2DB819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6" name="Segnaposto numero diapositiva 4">
            <a:extLst>
              <a:ext uri="{FF2B5EF4-FFF2-40B4-BE49-F238E27FC236}">
                <a16:creationId xmlns:a16="http://schemas.microsoft.com/office/drawing/2014/main" id="{3A35D656-354D-EE07-CA00-ED1EEB60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816" y="6266395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egnaposto piè di pagina 4">
            <a:hlinkClick r:id="rId4"/>
            <a:extLst>
              <a:ext uri="{FF2B5EF4-FFF2-40B4-BE49-F238E27FC236}">
                <a16:creationId xmlns:a16="http://schemas.microsoft.com/office/drawing/2014/main" id="{0557C1F8-F045-36A8-28BC-A4543CA2549E}"/>
              </a:ext>
            </a:extLst>
          </p:cNvPr>
          <p:cNvSpPr txBox="1">
            <a:spLocks/>
          </p:cNvSpPr>
          <p:nvPr userDrawn="1"/>
        </p:nvSpPr>
        <p:spPr>
          <a:xfrm>
            <a:off x="4038600" y="6133890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</p:spTree>
    <p:extLst>
      <p:ext uri="{BB962C8B-B14F-4D97-AF65-F5344CB8AC3E}">
        <p14:creationId xmlns:p14="http://schemas.microsoft.com/office/powerpoint/2010/main" val="2617551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8427749-3220-AC20-D252-55A2DB8193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5938" y="6133890"/>
            <a:ext cx="1512000" cy="360000"/>
          </a:xfrm>
          <a:prstGeom prst="rect">
            <a:avLst/>
          </a:prstGeom>
        </p:spPr>
      </p:pic>
      <p:sp>
        <p:nvSpPr>
          <p:cNvPr id="6" name="Segnaposto numero diapositiva 4">
            <a:extLst>
              <a:ext uri="{FF2B5EF4-FFF2-40B4-BE49-F238E27FC236}">
                <a16:creationId xmlns:a16="http://schemas.microsoft.com/office/drawing/2014/main" id="{3A35D656-354D-EE07-CA00-ED1EEB60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6816" y="6266395"/>
            <a:ext cx="838493" cy="22749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205DA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899FC1-F077-A14D-BE57-2CD87B3EF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Segnaposto piè di pagina 4">
            <a:hlinkClick r:id="rId3"/>
            <a:extLst>
              <a:ext uri="{FF2B5EF4-FFF2-40B4-BE49-F238E27FC236}">
                <a16:creationId xmlns:a16="http://schemas.microsoft.com/office/drawing/2014/main" id="{0557C1F8-F045-36A8-28BC-A4543CA2549E}"/>
              </a:ext>
            </a:extLst>
          </p:cNvPr>
          <p:cNvSpPr txBox="1">
            <a:spLocks/>
          </p:cNvSpPr>
          <p:nvPr userDrawn="1"/>
        </p:nvSpPr>
        <p:spPr>
          <a:xfrm>
            <a:off x="4038600" y="6133890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defPPr>
              <a:defRPr lang="it-IT"/>
            </a:defPPr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>
                <a:solidFill>
                  <a:srgbClr val="205DA6"/>
                </a:solidFill>
              </a:rPr>
              <a:t>humantechnopole.it</a:t>
            </a:r>
          </a:p>
        </p:txBody>
      </p:sp>
    </p:spTree>
    <p:extLst>
      <p:ext uri="{BB962C8B-B14F-4D97-AF65-F5344CB8AC3E}">
        <p14:creationId xmlns:p14="http://schemas.microsoft.com/office/powerpoint/2010/main" val="739787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F065D58-60CD-4002-75C3-EC0B921D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4623AC6-C701-4337-3447-FC18B3739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CA16E3-0888-FAF8-8357-A2D72FEF9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A8C509-4CF3-1C47-7C42-25933AE9C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err="1"/>
              <a:t>humantechnopole.it</a:t>
            </a:r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AFEEF6-E7B8-326F-50F5-0C6449342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A05967-CA1D-5C46-AFEB-6605DA15A10A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0815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50" r:id="rId2"/>
    <p:sldLayoutId id="2147483664" r:id="rId3"/>
    <p:sldLayoutId id="2147483666" r:id="rId4"/>
    <p:sldLayoutId id="2147483667" r:id="rId5"/>
    <p:sldLayoutId id="2147483663" r:id="rId6"/>
    <p:sldLayoutId id="2147483660" r:id="rId7"/>
    <p:sldLayoutId id="214748365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171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459">
          <p15:clr>
            <a:srgbClr val="F26B43"/>
          </p15:clr>
        </p15:guide>
        <p15:guide id="5" orient="horz" pos="3861">
          <p15:clr>
            <a:srgbClr val="F26B43"/>
          </p15:clr>
        </p15:guide>
        <p15:guide id="6" pos="325">
          <p15:clr>
            <a:srgbClr val="F26B43"/>
          </p15:clr>
        </p15:guide>
        <p15:guide id="7" pos="7355">
          <p15:clr>
            <a:srgbClr val="F26B43"/>
          </p15:clr>
        </p15:guide>
        <p15:guide id="8" orient="horz" pos="2160">
          <p15:clr>
            <a:srgbClr val="F26B43"/>
          </p15:clr>
        </p15:guide>
        <p15:guide id="9" orient="horz" pos="686">
          <p15:clr>
            <a:srgbClr val="F26B43"/>
          </p15:clr>
        </p15:guide>
        <p15:guide id="11" orient="horz" pos="913">
          <p15:clr>
            <a:srgbClr val="F26B43"/>
          </p15:clr>
        </p15:guide>
        <p15:guide id="12" orient="horz" pos="3748">
          <p15:clr>
            <a:srgbClr val="F26B43"/>
          </p15:clr>
        </p15:guide>
        <p15:guide id="13" pos="7061">
          <p15:clr>
            <a:srgbClr val="F26B43"/>
          </p15:clr>
        </p15:guide>
        <p15:guide id="14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FA72FF16-1623-F6C1-7057-EC89682AFD8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Segnaposto testo 8">
            <a:extLst>
              <a:ext uri="{FF2B5EF4-FFF2-40B4-BE49-F238E27FC236}">
                <a16:creationId xmlns:a16="http://schemas.microsoft.com/office/drawing/2014/main" id="{2CE26157-301D-2262-12AC-638D27EEAC69}"/>
              </a:ext>
            </a:extLst>
          </p:cNvPr>
          <p:cNvSpPr txBox="1">
            <a:spLocks/>
          </p:cNvSpPr>
          <p:nvPr/>
        </p:nvSpPr>
        <p:spPr>
          <a:xfrm>
            <a:off x="515938" y="5492571"/>
            <a:ext cx="3933825" cy="498475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005BA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solidFill>
                  <a:srgbClr val="205DA6"/>
                </a:solidFill>
              </a:rPr>
              <a:t>2026/01/24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D3C6200-87EF-B48E-5377-5D39EE5CF1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5938" y="728664"/>
            <a:ext cx="2925762" cy="696610"/>
          </a:xfrm>
          <a:prstGeom prst="rect">
            <a:avLst/>
          </a:prstGeom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61F9BEB3-60E2-CA10-1A74-27DA66250C75}"/>
              </a:ext>
            </a:extLst>
          </p:cNvPr>
          <p:cNvSpPr txBox="1">
            <a:spLocks/>
          </p:cNvSpPr>
          <p:nvPr/>
        </p:nvSpPr>
        <p:spPr>
          <a:xfrm>
            <a:off x="406148" y="3180177"/>
            <a:ext cx="6244507" cy="365126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ts val="3360"/>
              </a:lnSpc>
              <a:spcBef>
                <a:spcPct val="0"/>
              </a:spcBef>
              <a:buNone/>
              <a:defRPr sz="2200" b="0" i="0" kern="1200">
                <a:solidFill>
                  <a:srgbClr val="A2C03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3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A2C03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Nextflow</a:t>
            </a:r>
            <a:r>
              <a:rPr kumimoji="0" lang="it-IT" sz="2200" b="0" i="0" u="none" strike="noStrike" kern="1200" cap="none" spc="0" normalizeH="0" baseline="0" noProof="0" dirty="0">
                <a:ln>
                  <a:noFill/>
                </a:ln>
                <a:solidFill>
                  <a:srgbClr val="A2C03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from zero to </a:t>
            </a:r>
            <a:r>
              <a:rPr kumimoji="0" lang="it-IT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A2C03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hero</a:t>
            </a:r>
            <a:endParaRPr kumimoji="0" lang="it-IT" sz="2200" b="0" i="0" u="none" strike="noStrike" kern="1200" cap="none" spc="0" normalizeH="0" baseline="0" noProof="0" dirty="0">
              <a:ln>
                <a:noFill/>
              </a:ln>
              <a:solidFill>
                <a:srgbClr val="A2C037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9" name="Titolo 6">
            <a:extLst>
              <a:ext uri="{FF2B5EF4-FFF2-40B4-BE49-F238E27FC236}">
                <a16:creationId xmlns:a16="http://schemas.microsoft.com/office/drawing/2014/main" id="{94FA140B-714D-DD82-9B2A-70D52390AB49}"/>
              </a:ext>
            </a:extLst>
          </p:cNvPr>
          <p:cNvSpPr txBox="1">
            <a:spLocks/>
          </p:cNvSpPr>
          <p:nvPr/>
        </p:nvSpPr>
        <p:spPr>
          <a:xfrm>
            <a:off x="406148" y="2484557"/>
            <a:ext cx="7631863" cy="659166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ts val="3360"/>
              </a:lnSpc>
              <a:spcBef>
                <a:spcPct val="0"/>
              </a:spcBef>
              <a:buNone/>
              <a:defRPr sz="2200" b="0" i="0" kern="1200">
                <a:solidFill>
                  <a:srgbClr val="A2C037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336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</a:t>
            </a:r>
            <a:r>
              <a:rPr kumimoji="0" lang="it-IT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Modules</a:t>
            </a:r>
            <a:r>
              <a:rPr kumimoji="0" lang="it-IT" sz="4000" b="1" i="0" u="none" strike="noStrike" kern="1200" cap="none" spc="0" normalizeH="0" baseline="0" noProof="0" dirty="0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and </a:t>
            </a:r>
            <a:r>
              <a:rPr kumimoji="0" lang="it-IT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subworkflows</a:t>
            </a:r>
            <a:endParaRPr kumimoji="0" lang="it-IT" sz="40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319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>
            <a:extLst>
              <a:ext uri="{FF2B5EF4-FFF2-40B4-BE49-F238E27FC236}">
                <a16:creationId xmlns:a16="http://schemas.microsoft.com/office/drawing/2014/main" id="{DA668880-1F71-7C5D-FC1A-68646AA12AF8}"/>
              </a:ext>
            </a:extLst>
          </p:cNvPr>
          <p:cNvSpPr txBox="1"/>
          <p:nvPr/>
        </p:nvSpPr>
        <p:spPr>
          <a:xfrm>
            <a:off x="405280" y="699499"/>
            <a:ext cx="117327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sz="2800" b="1" dirty="0">
                <a:solidFill>
                  <a:srgbClr val="205DA6"/>
                </a:solidFill>
                <a:latin typeface="Arial"/>
                <a:cs typeface="Arial"/>
              </a:rPr>
              <a:t>Modularity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egnaposto testo 24">
            <a:extLst>
              <a:ext uri="{FF2B5EF4-FFF2-40B4-BE49-F238E27FC236}">
                <a16:creationId xmlns:a16="http://schemas.microsoft.com/office/drawing/2014/main" id="{7C118158-A965-2B03-C665-FECD0C4CD244}"/>
              </a:ext>
            </a:extLst>
          </p:cNvPr>
          <p:cNvSpPr txBox="1">
            <a:spLocks/>
          </p:cNvSpPr>
          <p:nvPr/>
        </p:nvSpPr>
        <p:spPr>
          <a:xfrm>
            <a:off x="416930" y="1117752"/>
            <a:ext cx="7754098" cy="3240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A1C03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dirty="0">
                <a:solidFill>
                  <a:srgbClr val="0085CA"/>
                </a:solidFill>
                <a:latin typeface="Arial"/>
                <a:cs typeface="Arial"/>
              </a:rPr>
              <a:t>and why it is your friend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85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0D1EDFD-9FB7-3A56-7D2A-2BA94FC3A3B4}"/>
              </a:ext>
            </a:extLst>
          </p:cNvPr>
          <p:cNvSpPr txBox="1">
            <a:spLocks/>
          </p:cNvSpPr>
          <p:nvPr/>
        </p:nvSpPr>
        <p:spPr>
          <a:xfrm>
            <a:off x="530226" y="1866901"/>
            <a:ext cx="11145837" cy="3871911"/>
          </a:xfrm>
          <a:prstGeom prst="rect">
            <a:avLst/>
          </a:prstGeom>
        </p:spPr>
        <p:txBody>
          <a:bodyPr vert="horz" lIns="91440" tIns="45720" rIns="91440" bIns="45720" numCol="2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b="1" dirty="0" err="1">
                <a:solidFill>
                  <a:srgbClr val="205DA6"/>
                </a:solidFill>
              </a:rPr>
              <a:t>Problem</a:t>
            </a:r>
            <a:r>
              <a:rPr lang="it-IT" sz="1800" dirty="0">
                <a:solidFill>
                  <a:srgbClr val="205DA6"/>
                </a:solidFill>
              </a:rPr>
              <a:t>: </a:t>
            </a:r>
            <a:r>
              <a:rPr lang="it-IT" sz="1800" dirty="0" err="1">
                <a:solidFill>
                  <a:srgbClr val="205DA6"/>
                </a:solidFill>
              </a:rPr>
              <a:t>monolitic</a:t>
            </a:r>
            <a:r>
              <a:rPr lang="it-IT" sz="1800" dirty="0">
                <a:solidFill>
                  <a:srgbClr val="205DA6"/>
                </a:solidFill>
              </a:rPr>
              <a:t> pipelines are hard to scale and </a:t>
            </a:r>
            <a:r>
              <a:rPr lang="it-IT" sz="1800" dirty="0" err="1">
                <a:solidFill>
                  <a:srgbClr val="205DA6"/>
                </a:solidFill>
              </a:rPr>
              <a:t>maintain</a:t>
            </a:r>
            <a:endParaRPr lang="it-IT" sz="1800" dirty="0">
              <a:solidFill>
                <a:srgbClr val="205DA6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endParaRPr lang="it-IT" sz="1800" dirty="0">
              <a:solidFill>
                <a:srgbClr val="205DA6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b="1" dirty="0">
                <a:solidFill>
                  <a:srgbClr val="205DA6"/>
                </a:solidFill>
              </a:rPr>
              <a:t>Solution</a:t>
            </a:r>
            <a:r>
              <a:rPr lang="it-IT" sz="1800" dirty="0">
                <a:solidFill>
                  <a:srgbClr val="205DA6"/>
                </a:solidFill>
              </a:rPr>
              <a:t>: </a:t>
            </a:r>
            <a:r>
              <a:rPr lang="it-IT" sz="1800" dirty="0" err="1">
                <a:solidFill>
                  <a:srgbClr val="205DA6"/>
                </a:solidFill>
              </a:rPr>
              <a:t>modularity</a:t>
            </a:r>
            <a:endParaRPr lang="it-IT" sz="1800" dirty="0">
              <a:solidFill>
                <a:srgbClr val="205DA6"/>
              </a:solidFill>
            </a:endParaRPr>
          </a:p>
          <a:p>
            <a:pPr lvl="1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FontTx/>
              <a:buChar char="-"/>
              <a:defRPr/>
            </a:pPr>
            <a:r>
              <a:rPr lang="en-GB" sz="1400" dirty="0"/>
              <a:t>Maintainability</a:t>
            </a:r>
          </a:p>
          <a:p>
            <a:pPr lvl="1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FontTx/>
              <a:buChar char="-"/>
              <a:defRPr/>
            </a:pPr>
            <a:r>
              <a:rPr lang="en-GB" sz="1400" dirty="0"/>
              <a:t>Code reuse across pipelines</a:t>
            </a:r>
          </a:p>
          <a:p>
            <a:pPr lvl="1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FontTx/>
              <a:buChar char="-"/>
              <a:defRPr/>
            </a:pPr>
            <a:r>
              <a:rPr lang="en-GB" sz="1400" dirty="0"/>
              <a:t>Independent testing of components</a:t>
            </a:r>
          </a:p>
          <a:p>
            <a:pPr lvl="1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FontTx/>
              <a:buChar char="-"/>
              <a:defRPr/>
            </a:pPr>
            <a:r>
              <a:rPr lang="en-GB" sz="1400" dirty="0"/>
              <a:t>Clear code organization</a:t>
            </a:r>
          </a:p>
          <a:p>
            <a:pPr lvl="1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FontTx/>
              <a:buChar char="-"/>
              <a:defRPr/>
            </a:pPr>
            <a:r>
              <a:rPr lang="en-GB" sz="1400" dirty="0"/>
              <a:t>Community collaboration</a:t>
            </a:r>
            <a:endParaRPr lang="en-GB" sz="1400" dirty="0">
              <a:solidFill>
                <a:srgbClr val="205DA6"/>
              </a:solidFill>
            </a:endParaRP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endParaRPr lang="it-IT" sz="1400" dirty="0">
              <a:solidFill>
                <a:srgbClr val="205DA6"/>
              </a:solidFill>
            </a:endParaRP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b="1" u="sng" dirty="0" err="1">
                <a:solidFill>
                  <a:srgbClr val="205DA6"/>
                </a:solidFill>
              </a:rPr>
              <a:t>Variant</a:t>
            </a:r>
            <a:r>
              <a:rPr lang="it-IT" sz="1400" b="1" u="sng" dirty="0">
                <a:solidFill>
                  <a:srgbClr val="205DA6"/>
                </a:solidFill>
              </a:rPr>
              <a:t> </a:t>
            </a:r>
            <a:r>
              <a:rPr lang="it-IT" sz="1400" b="1" u="sng" dirty="0" err="1">
                <a:solidFill>
                  <a:srgbClr val="205DA6"/>
                </a:solidFill>
              </a:rPr>
              <a:t>calling</a:t>
            </a:r>
            <a:r>
              <a:rPr lang="it-IT" sz="1400" b="1" u="sng" dirty="0">
                <a:solidFill>
                  <a:srgbClr val="205DA6"/>
                </a:solidFill>
              </a:rPr>
              <a:t> pipeline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FASTP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FASTQC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BWA_MEM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SAMTOOLS_SORT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SAMTOOLS_INDEX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SAMTOOLS_STATS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MOSDEPTH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DEEPVARIANT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205DA6"/>
                </a:solidFill>
              </a:rPr>
              <a:t>MULTIQC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14091087-AD4C-DCAC-EFF8-D7671839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621" y="6266395"/>
            <a:ext cx="362441" cy="227495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99FC1-F077-A14D-BE57-2CD87B3EFAE0}" type="slidenum">
              <a:rPr kumimoji="0" lang="it-IT" sz="1200" b="1" i="0" u="none" strike="noStrike" kern="1200" cap="none" spc="0" normalizeH="0" baseline="0" noProof="0" smtClean="0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5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A6DD9-D1CA-0845-7E49-33E3A644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>
            <a:extLst>
              <a:ext uri="{FF2B5EF4-FFF2-40B4-BE49-F238E27FC236}">
                <a16:creationId xmlns:a16="http://schemas.microsoft.com/office/drawing/2014/main" id="{7D295F20-85A7-D78F-B175-7D7D88B5404F}"/>
              </a:ext>
            </a:extLst>
          </p:cNvPr>
          <p:cNvSpPr txBox="1"/>
          <p:nvPr/>
        </p:nvSpPr>
        <p:spPr>
          <a:xfrm>
            <a:off x="405280" y="699499"/>
            <a:ext cx="117327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GB" sz="2800" b="1" dirty="0">
                <a:solidFill>
                  <a:srgbClr val="205DA6"/>
                </a:solidFill>
                <a:latin typeface="Arial"/>
                <a:cs typeface="Arial"/>
              </a:rPr>
              <a:t>Scope of the “box”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egnaposto testo 24">
            <a:extLst>
              <a:ext uri="{FF2B5EF4-FFF2-40B4-BE49-F238E27FC236}">
                <a16:creationId xmlns:a16="http://schemas.microsoft.com/office/drawing/2014/main" id="{DFD2B4DD-7D48-432F-99DE-CC564375052C}"/>
              </a:ext>
            </a:extLst>
          </p:cNvPr>
          <p:cNvSpPr txBox="1">
            <a:spLocks/>
          </p:cNvSpPr>
          <p:nvPr/>
        </p:nvSpPr>
        <p:spPr>
          <a:xfrm>
            <a:off x="416930" y="1117752"/>
            <a:ext cx="7754098" cy="3240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A1C03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dirty="0">
                <a:solidFill>
                  <a:srgbClr val="0085CA"/>
                </a:solidFill>
                <a:latin typeface="Arial"/>
                <a:cs typeface="Arial"/>
              </a:rPr>
              <a:t>Modules and </a:t>
            </a:r>
            <a:r>
              <a:rPr lang="en-GB" sz="2000" dirty="0" err="1">
                <a:solidFill>
                  <a:srgbClr val="0085CA"/>
                </a:solidFill>
                <a:latin typeface="Arial"/>
                <a:cs typeface="Arial"/>
              </a:rPr>
              <a:t>Subworkflows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85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C344D005-1691-2CD4-7711-7F35F8A2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621" y="6266395"/>
            <a:ext cx="362441" cy="227495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99FC1-F077-A14D-BE57-2CD87B3EFAE0}" type="slidenum">
              <a:rPr kumimoji="0" lang="it-IT" sz="1200" b="1" i="0" u="none" strike="noStrike" kern="1200" cap="none" spc="0" normalizeH="0" baseline="0" noProof="0" smtClean="0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855457A-DC05-8BE3-9961-B2D0320E15D7}"/>
              </a:ext>
            </a:extLst>
          </p:cNvPr>
          <p:cNvSpPr txBox="1">
            <a:spLocks/>
          </p:cNvSpPr>
          <p:nvPr/>
        </p:nvSpPr>
        <p:spPr>
          <a:xfrm>
            <a:off x="530226" y="1866901"/>
            <a:ext cx="11145837" cy="3871911"/>
          </a:xfrm>
          <a:prstGeom prst="rect">
            <a:avLst/>
          </a:prstGeom>
        </p:spPr>
        <p:txBody>
          <a:bodyPr vert="horz" lIns="91440" tIns="45720" rIns="91440" bIns="45720" numCol="2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b="1" dirty="0">
                <a:solidFill>
                  <a:srgbClr val="205DA6"/>
                </a:solidFill>
              </a:rPr>
              <a:t>Module</a:t>
            </a:r>
          </a:p>
          <a:p>
            <a:pPr marL="0" indent="0" algn="just">
              <a:lnSpc>
                <a:spcPct val="107000"/>
              </a:lnSpc>
              <a:buClr>
                <a:srgbClr val="A2C037"/>
              </a:buClr>
              <a:buSzPct val="150000"/>
              <a:buNone/>
              <a:defRPr/>
            </a:pPr>
            <a:r>
              <a:rPr lang="en-GB" sz="1800" dirty="0"/>
              <a:t>Process that is stored in a </a:t>
            </a:r>
            <a:r>
              <a:rPr lang="en-GB" sz="1800" b="1" dirty="0"/>
              <a:t>separate file</a:t>
            </a:r>
            <a:r>
              <a:rPr lang="en-GB" sz="1800" dirty="0"/>
              <a:t> and can be imported into different workflows.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None/>
              <a:tabLst/>
              <a:defRPr/>
            </a:pPr>
            <a:endParaRPr lang="it-IT" sz="1800" dirty="0">
              <a:solidFill>
                <a:srgbClr val="205DA6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endParaRPr lang="it-IT" sz="1800" dirty="0">
              <a:solidFill>
                <a:srgbClr val="205DA6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b="1" dirty="0" err="1">
                <a:solidFill>
                  <a:srgbClr val="205DA6"/>
                </a:solidFill>
              </a:rPr>
              <a:t>Subworkflow</a:t>
            </a:r>
            <a:endParaRPr lang="it-IT" sz="1800" b="1" dirty="0">
              <a:solidFill>
                <a:srgbClr val="205DA6"/>
              </a:solidFill>
            </a:endParaRPr>
          </a:p>
          <a:p>
            <a:pPr marL="0" indent="0" algn="just">
              <a:lnSpc>
                <a:spcPct val="107000"/>
              </a:lnSpc>
              <a:buClr>
                <a:srgbClr val="A2C037"/>
              </a:buClr>
              <a:buSzPct val="150000"/>
              <a:buNone/>
              <a:defRPr/>
            </a:pPr>
            <a:r>
              <a:rPr lang="en-GB" sz="1800" dirty="0"/>
              <a:t>Higher-level building block that groups </a:t>
            </a:r>
            <a:r>
              <a:rPr lang="en-GB" sz="1800" b="1" dirty="0"/>
              <a:t>multiple modules</a:t>
            </a:r>
            <a:r>
              <a:rPr lang="en-GB" sz="1800" dirty="0"/>
              <a:t> into a </a:t>
            </a:r>
            <a:r>
              <a:rPr lang="en-GB" sz="1800" b="1" dirty="0"/>
              <a:t>logical unit of execution</a:t>
            </a:r>
            <a:r>
              <a:rPr lang="en-GB" sz="1800" dirty="0"/>
              <a:t>, also in a separate file.</a:t>
            </a:r>
            <a:endParaRPr lang="it-IT" sz="1800" dirty="0">
              <a:solidFill>
                <a:srgbClr val="205DA6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endParaRPr lang="it-IT" sz="1400" dirty="0">
              <a:solidFill>
                <a:srgbClr val="205DA6"/>
              </a:solidFill>
            </a:endParaRP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b="1" u="sng" dirty="0" err="1">
                <a:solidFill>
                  <a:srgbClr val="205DA6"/>
                </a:solidFill>
              </a:rPr>
              <a:t>Variant</a:t>
            </a:r>
            <a:r>
              <a:rPr lang="it-IT" sz="1400" b="1" u="sng" dirty="0">
                <a:solidFill>
                  <a:srgbClr val="205DA6"/>
                </a:solidFill>
              </a:rPr>
              <a:t> </a:t>
            </a:r>
            <a:r>
              <a:rPr lang="it-IT" sz="1400" b="1" u="sng" dirty="0" err="1">
                <a:solidFill>
                  <a:srgbClr val="205DA6"/>
                </a:solidFill>
              </a:rPr>
              <a:t>calling</a:t>
            </a:r>
            <a:r>
              <a:rPr lang="it-IT" sz="1400" b="1" u="sng" dirty="0">
                <a:solidFill>
                  <a:srgbClr val="205DA6"/>
                </a:solidFill>
              </a:rPr>
              <a:t> pipeline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00B0F0"/>
                </a:solidFill>
              </a:rPr>
              <a:t>FASTP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00B0F0"/>
                </a:solidFill>
              </a:rPr>
              <a:t>FASTQC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92D050"/>
                </a:solidFill>
              </a:rPr>
              <a:t>BWA_MEM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92D050"/>
                </a:solidFill>
              </a:rPr>
              <a:t>SAMTOOLS_SORT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92D050"/>
                </a:solidFill>
              </a:rPr>
              <a:t>SAMTOOLS_INDEX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FFC000"/>
                </a:solidFill>
              </a:rPr>
              <a:t>SAMTOOLS_STATS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FFC000"/>
                </a:solidFill>
              </a:rPr>
              <a:t>MOSDEPTH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FF0000"/>
                </a:solidFill>
              </a:rPr>
              <a:t>DEEPVARIANT</a:t>
            </a: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r>
              <a:rPr lang="it-IT" sz="1400" dirty="0">
                <a:solidFill>
                  <a:srgbClr val="7030A0"/>
                </a:solidFill>
              </a:rPr>
              <a:t>MULTIQC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2E365EA2-D663-B976-878D-ACA0DBF69BA7}"/>
              </a:ext>
            </a:extLst>
          </p:cNvPr>
          <p:cNvSpPr/>
          <p:nvPr/>
        </p:nvSpPr>
        <p:spPr>
          <a:xfrm>
            <a:off x="10064937" y="2299063"/>
            <a:ext cx="45719" cy="539931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Right Bracket 5">
            <a:extLst>
              <a:ext uri="{FF2B5EF4-FFF2-40B4-BE49-F238E27FC236}">
                <a16:creationId xmlns:a16="http://schemas.microsoft.com/office/drawing/2014/main" id="{273D1714-02F3-9352-8B8D-413FB5A2B027}"/>
              </a:ext>
            </a:extLst>
          </p:cNvPr>
          <p:cNvSpPr/>
          <p:nvPr/>
        </p:nvSpPr>
        <p:spPr>
          <a:xfrm>
            <a:off x="10064936" y="3013166"/>
            <a:ext cx="45719" cy="87956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D13C637D-2C6A-90A7-47AD-EB53C7288BFF}"/>
              </a:ext>
            </a:extLst>
          </p:cNvPr>
          <p:cNvSpPr/>
          <p:nvPr/>
        </p:nvSpPr>
        <p:spPr>
          <a:xfrm>
            <a:off x="10064936" y="4066903"/>
            <a:ext cx="45719" cy="539931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F81A7-483F-7E4C-EC09-D17B04EF9613}"/>
              </a:ext>
            </a:extLst>
          </p:cNvPr>
          <p:cNvSpPr txBox="1"/>
          <p:nvPr/>
        </p:nvSpPr>
        <p:spPr>
          <a:xfrm>
            <a:off x="10206445" y="2384362"/>
            <a:ext cx="1311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READS_QC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86344-8D6B-1A1A-8D62-571FDB9DFAE3}"/>
              </a:ext>
            </a:extLst>
          </p:cNvPr>
          <p:cNvSpPr txBox="1"/>
          <p:nvPr/>
        </p:nvSpPr>
        <p:spPr>
          <a:xfrm>
            <a:off x="10206445" y="3281277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MAPPING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DE006-8D18-F8F1-77D2-AA3102151E8A}"/>
              </a:ext>
            </a:extLst>
          </p:cNvPr>
          <p:cNvSpPr txBox="1"/>
          <p:nvPr/>
        </p:nvSpPr>
        <p:spPr>
          <a:xfrm>
            <a:off x="10206445" y="4169484"/>
            <a:ext cx="1849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MAPPING_STATS</a:t>
            </a:r>
          </a:p>
        </p:txBody>
      </p:sp>
      <p:sp>
        <p:nvSpPr>
          <p:cNvPr id="14" name="Right Bracket 13">
            <a:extLst>
              <a:ext uri="{FF2B5EF4-FFF2-40B4-BE49-F238E27FC236}">
                <a16:creationId xmlns:a16="http://schemas.microsoft.com/office/drawing/2014/main" id="{D8D724B3-2C20-6377-2B53-F81810802580}"/>
              </a:ext>
            </a:extLst>
          </p:cNvPr>
          <p:cNvSpPr/>
          <p:nvPr/>
        </p:nvSpPr>
        <p:spPr>
          <a:xfrm>
            <a:off x="10064936" y="4781006"/>
            <a:ext cx="45719" cy="14804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6DF12E94-92C6-E18A-792D-51AE72017D1B}"/>
              </a:ext>
            </a:extLst>
          </p:cNvPr>
          <p:cNvSpPr/>
          <p:nvPr/>
        </p:nvSpPr>
        <p:spPr>
          <a:xfrm>
            <a:off x="10067111" y="5118820"/>
            <a:ext cx="45719" cy="148045"/>
          </a:xfrm>
          <a:prstGeom prst="righ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408FB5-89AE-C287-BD44-B85158FD8EC9}"/>
              </a:ext>
            </a:extLst>
          </p:cNvPr>
          <p:cNvSpPr txBox="1"/>
          <p:nvPr/>
        </p:nvSpPr>
        <p:spPr>
          <a:xfrm>
            <a:off x="10206445" y="4670362"/>
            <a:ext cx="1687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VARIANT_CALL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E26FDF-DA36-BBCE-97A6-2D3138341280}"/>
              </a:ext>
            </a:extLst>
          </p:cNvPr>
          <p:cNvSpPr txBox="1"/>
          <p:nvPr/>
        </p:nvSpPr>
        <p:spPr>
          <a:xfrm>
            <a:off x="10206445" y="5019921"/>
            <a:ext cx="1385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dirty="0"/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1669622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972B-1602-41F3-C045-ECA6E01D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>
            <a:extLst>
              <a:ext uri="{FF2B5EF4-FFF2-40B4-BE49-F238E27FC236}">
                <a16:creationId xmlns:a16="http://schemas.microsoft.com/office/drawing/2014/main" id="{0FC4D7D2-2B1A-99AE-2601-8547A404F365}"/>
              </a:ext>
            </a:extLst>
          </p:cNvPr>
          <p:cNvSpPr txBox="1"/>
          <p:nvPr/>
        </p:nvSpPr>
        <p:spPr>
          <a:xfrm>
            <a:off x="405280" y="699499"/>
            <a:ext cx="117327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Creating a module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egnaposto testo 24">
            <a:extLst>
              <a:ext uri="{FF2B5EF4-FFF2-40B4-BE49-F238E27FC236}">
                <a16:creationId xmlns:a16="http://schemas.microsoft.com/office/drawing/2014/main" id="{1AC3B42C-76FE-4BDD-D4F0-5BB28702E14E}"/>
              </a:ext>
            </a:extLst>
          </p:cNvPr>
          <p:cNvSpPr txBox="1">
            <a:spLocks/>
          </p:cNvSpPr>
          <p:nvPr/>
        </p:nvSpPr>
        <p:spPr>
          <a:xfrm>
            <a:off x="416930" y="1117752"/>
            <a:ext cx="7754098" cy="3240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A1C03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85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D2C80994-9A83-57FB-01D7-6C869AA08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621" y="6266395"/>
            <a:ext cx="362441" cy="227495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99FC1-F077-A14D-BE57-2CD87B3EFAE0}" type="slidenum">
              <a:rPr kumimoji="0" lang="it-IT" sz="1200" b="1" i="0" u="none" strike="noStrike" kern="1200" cap="none" spc="0" normalizeH="0" baseline="0" noProof="0" smtClean="0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t-IT" sz="12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2620218-80C6-8BE0-0739-537CAB50C57A}"/>
              </a:ext>
            </a:extLst>
          </p:cNvPr>
          <p:cNvSpPr txBox="1">
            <a:spLocks/>
          </p:cNvSpPr>
          <p:nvPr/>
        </p:nvSpPr>
        <p:spPr>
          <a:xfrm>
            <a:off x="530227" y="1866901"/>
            <a:ext cx="3467008" cy="3871911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dirty="0">
                <a:solidFill>
                  <a:srgbClr val="205DA6"/>
                </a:solidFill>
              </a:rPr>
              <a:t>Put the </a:t>
            </a:r>
            <a:r>
              <a:rPr lang="it-IT" sz="1800" dirty="0" err="1">
                <a:solidFill>
                  <a:srgbClr val="205DA6"/>
                </a:solidFill>
              </a:rPr>
              <a:t>process</a:t>
            </a:r>
            <a:r>
              <a:rPr lang="it-IT" sz="1800" dirty="0">
                <a:solidFill>
                  <a:srgbClr val="205DA6"/>
                </a:solidFill>
              </a:rPr>
              <a:t> in a separate, </a:t>
            </a:r>
            <a:r>
              <a:rPr lang="it-IT" sz="1800" dirty="0" err="1">
                <a:solidFill>
                  <a:srgbClr val="205DA6"/>
                </a:solidFill>
              </a:rPr>
              <a:t>independent</a:t>
            </a:r>
            <a:r>
              <a:rPr lang="it-IT" sz="1800" dirty="0">
                <a:solidFill>
                  <a:srgbClr val="205DA6"/>
                </a:solidFill>
              </a:rPr>
              <a:t> file with </a:t>
            </a:r>
            <a:r>
              <a:rPr lang="it-IT" sz="1800" dirty="0" err="1">
                <a:solidFill>
                  <a:srgbClr val="205DA6"/>
                </a:solidFill>
              </a:rPr>
              <a:t>extesion</a:t>
            </a:r>
            <a:r>
              <a:rPr lang="it-IT" sz="1800" dirty="0">
                <a:solidFill>
                  <a:srgbClr val="205DA6"/>
                </a:solidFill>
              </a:rPr>
              <a:t> </a:t>
            </a:r>
            <a:r>
              <a:rPr lang="it-IT" sz="1800" i="1" dirty="0">
                <a:solidFill>
                  <a:srgbClr val="205DA6"/>
                </a:solidFill>
              </a:rPr>
              <a:t>.</a:t>
            </a:r>
            <a:r>
              <a:rPr lang="it-IT" sz="1800" i="1" dirty="0" err="1">
                <a:solidFill>
                  <a:srgbClr val="205DA6"/>
                </a:solidFill>
              </a:rPr>
              <a:t>nf</a:t>
            </a:r>
            <a:r>
              <a:rPr lang="it-IT" sz="1800" dirty="0">
                <a:solidFill>
                  <a:srgbClr val="205DA6"/>
                </a:solidFill>
              </a:rPr>
              <a:t> (</a:t>
            </a:r>
            <a:r>
              <a:rPr lang="it-IT" sz="1800" dirty="0" err="1">
                <a:solidFill>
                  <a:srgbClr val="205DA6"/>
                </a:solidFill>
              </a:rPr>
              <a:t>ie</a:t>
            </a:r>
            <a:r>
              <a:rPr lang="it-IT" sz="1800" dirty="0">
                <a:solidFill>
                  <a:srgbClr val="205DA6"/>
                </a:solidFill>
              </a:rPr>
              <a:t>. </a:t>
            </a:r>
            <a:r>
              <a:rPr lang="it-IT" sz="1800" i="1" dirty="0" err="1">
                <a:solidFill>
                  <a:srgbClr val="205DA6"/>
                </a:solidFill>
              </a:rPr>
              <a:t>bwa.nf</a:t>
            </a:r>
            <a:r>
              <a:rPr lang="it-IT" sz="1800" dirty="0">
                <a:solidFill>
                  <a:srgbClr val="205DA6"/>
                </a:solidFill>
              </a:rPr>
              <a:t>)</a:t>
            </a: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endParaRPr lang="it-IT" sz="1800" dirty="0">
              <a:solidFill>
                <a:srgbClr val="205DA6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u="sng" dirty="0">
                <a:solidFill>
                  <a:srgbClr val="205DA6"/>
                </a:solidFill>
              </a:rPr>
              <a:t>Input</a:t>
            </a:r>
            <a:r>
              <a:rPr lang="it-IT" sz="1800" dirty="0">
                <a:solidFill>
                  <a:srgbClr val="205DA6"/>
                </a:solidFill>
              </a:rPr>
              <a:t>, </a:t>
            </a:r>
            <a:r>
              <a:rPr lang="it-IT" sz="1800" u="sng" dirty="0" err="1">
                <a:solidFill>
                  <a:srgbClr val="205DA6"/>
                </a:solidFill>
              </a:rPr>
              <a:t>logic</a:t>
            </a:r>
            <a:r>
              <a:rPr lang="it-IT" sz="1800" dirty="0">
                <a:solidFill>
                  <a:srgbClr val="205DA6"/>
                </a:solidFill>
              </a:rPr>
              <a:t> and </a:t>
            </a:r>
            <a:r>
              <a:rPr lang="it-IT" sz="1800" u="sng" dirty="0">
                <a:solidFill>
                  <a:srgbClr val="205DA6"/>
                </a:solidFill>
              </a:rPr>
              <a:t>output</a:t>
            </a:r>
            <a:r>
              <a:rPr lang="it-IT" sz="1800" dirty="0">
                <a:solidFill>
                  <a:srgbClr val="205DA6"/>
                </a:solidFill>
              </a:rPr>
              <a:t> of the </a:t>
            </a:r>
            <a:r>
              <a:rPr lang="it-IT" sz="1800" dirty="0" err="1">
                <a:solidFill>
                  <a:srgbClr val="205DA6"/>
                </a:solidFill>
              </a:rPr>
              <a:t>module</a:t>
            </a:r>
            <a:r>
              <a:rPr lang="it-IT" sz="1800" dirty="0">
                <a:solidFill>
                  <a:srgbClr val="205DA6"/>
                </a:solidFill>
              </a:rPr>
              <a:t> are </a:t>
            </a:r>
            <a:r>
              <a:rPr lang="it-IT" sz="1800" dirty="0" err="1">
                <a:solidFill>
                  <a:srgbClr val="205DA6"/>
                </a:solidFill>
              </a:rPr>
              <a:t>controlled</a:t>
            </a:r>
            <a:r>
              <a:rPr lang="it-IT" sz="1800" dirty="0">
                <a:solidFill>
                  <a:srgbClr val="205DA6"/>
                </a:solidFill>
              </a:rPr>
              <a:t> with </a:t>
            </a:r>
            <a:r>
              <a:rPr lang="it-IT" sz="1800" dirty="0">
                <a:solidFill>
                  <a:schemeClr val="bg2">
                    <a:lumMod val="25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it-IT" sz="1800" dirty="0">
                <a:solidFill>
                  <a:srgbClr val="205DA6"/>
                </a:solidFill>
              </a:rPr>
              <a:t>, </a:t>
            </a:r>
            <a:r>
              <a:rPr lang="it-IT" sz="1800" dirty="0">
                <a:solidFill>
                  <a:schemeClr val="bg2">
                    <a:lumMod val="25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script</a:t>
            </a:r>
            <a:r>
              <a:rPr lang="it-IT" sz="1800" dirty="0">
                <a:solidFill>
                  <a:srgbClr val="205DA6"/>
                </a:solidFill>
              </a:rPr>
              <a:t> and </a:t>
            </a:r>
            <a:r>
              <a:rPr lang="it-IT" sz="1800" dirty="0">
                <a:solidFill>
                  <a:schemeClr val="bg2">
                    <a:lumMod val="25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it-IT" sz="1800" dirty="0">
                <a:solidFill>
                  <a:srgbClr val="205DA6"/>
                </a:solidFill>
              </a:rPr>
              <a:t> in the </a:t>
            </a:r>
            <a:r>
              <a:rPr lang="it-IT" sz="1800" dirty="0" err="1">
                <a:solidFill>
                  <a:srgbClr val="205DA6"/>
                </a:solidFill>
              </a:rPr>
              <a:t>process</a:t>
            </a:r>
            <a:r>
              <a:rPr lang="it-IT" sz="1800" dirty="0">
                <a:solidFill>
                  <a:srgbClr val="205DA6"/>
                </a:solidFill>
              </a:rPr>
              <a:t> </a:t>
            </a:r>
            <a:r>
              <a:rPr lang="it-IT" sz="1800" dirty="0" err="1">
                <a:solidFill>
                  <a:srgbClr val="205DA6"/>
                </a:solidFill>
              </a:rPr>
              <a:t>definition</a:t>
            </a:r>
            <a:r>
              <a:rPr lang="it-IT" sz="1800" dirty="0">
                <a:solidFill>
                  <a:srgbClr val="205DA6"/>
                </a:solidFill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endParaRPr lang="it-IT" sz="1400" dirty="0">
              <a:solidFill>
                <a:srgbClr val="205DA6"/>
              </a:solidFill>
            </a:endParaRP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endParaRPr lang="it-IT" sz="1400" b="1" u="sng" dirty="0">
              <a:solidFill>
                <a:srgbClr val="205DA6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4A7352-896F-C7E4-DF8F-660742AE9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979" y="1640972"/>
            <a:ext cx="7772400" cy="406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75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4DE3-1D9D-D164-0A69-D2CA1FEF2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3">
            <a:extLst>
              <a:ext uri="{FF2B5EF4-FFF2-40B4-BE49-F238E27FC236}">
                <a16:creationId xmlns:a16="http://schemas.microsoft.com/office/drawing/2014/main" id="{BFAD5969-E140-3952-A67E-FE687F3C7FF3}"/>
              </a:ext>
            </a:extLst>
          </p:cNvPr>
          <p:cNvSpPr txBox="1"/>
          <p:nvPr/>
        </p:nvSpPr>
        <p:spPr>
          <a:xfrm>
            <a:off x="405280" y="699499"/>
            <a:ext cx="117327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Creating a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subworkflow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egnaposto testo 24">
            <a:extLst>
              <a:ext uri="{FF2B5EF4-FFF2-40B4-BE49-F238E27FC236}">
                <a16:creationId xmlns:a16="http://schemas.microsoft.com/office/drawing/2014/main" id="{08B26096-6106-A1DA-0CE1-0F3C83874E04}"/>
              </a:ext>
            </a:extLst>
          </p:cNvPr>
          <p:cNvSpPr txBox="1">
            <a:spLocks/>
          </p:cNvSpPr>
          <p:nvPr/>
        </p:nvSpPr>
        <p:spPr>
          <a:xfrm>
            <a:off x="416930" y="1117752"/>
            <a:ext cx="7754098" cy="3240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ts val="2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ts val="2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A1C03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85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Segnaposto numero diapositiva 4">
            <a:extLst>
              <a:ext uri="{FF2B5EF4-FFF2-40B4-BE49-F238E27FC236}">
                <a16:creationId xmlns:a16="http://schemas.microsoft.com/office/drawing/2014/main" id="{020EAE82-5996-BBDC-F4F6-4045E366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621" y="6266395"/>
            <a:ext cx="362441" cy="227495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99FC1-F077-A14D-BE57-2CD87B3EFAE0}" type="slidenum">
              <a:rPr kumimoji="0" lang="it-IT" sz="1200" b="1" i="0" u="none" strike="noStrike" kern="1200" cap="none" spc="0" normalizeH="0" baseline="0" noProof="0" smtClean="0">
                <a:ln>
                  <a:noFill/>
                </a:ln>
                <a:solidFill>
                  <a:srgbClr val="205DA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1" i="0" u="none" strike="noStrike" kern="1200" cap="none" spc="0" normalizeH="0" baseline="0" noProof="0" dirty="0">
              <a:ln>
                <a:noFill/>
              </a:ln>
              <a:solidFill>
                <a:srgbClr val="205DA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4B03CA9-4E14-6CF7-C257-C8E4BF0FA1F9}"/>
              </a:ext>
            </a:extLst>
          </p:cNvPr>
          <p:cNvSpPr txBox="1">
            <a:spLocks/>
          </p:cNvSpPr>
          <p:nvPr/>
        </p:nvSpPr>
        <p:spPr>
          <a:xfrm>
            <a:off x="530227" y="1866901"/>
            <a:ext cx="5314946" cy="3871911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b="1" dirty="0">
                <a:solidFill>
                  <a:srgbClr val="205DA6"/>
                </a:solidFill>
              </a:rPr>
              <a:t>Import</a:t>
            </a:r>
            <a:r>
              <a:rPr lang="it-IT" sz="1800" dirty="0">
                <a:solidFill>
                  <a:srgbClr val="205DA6"/>
                </a:solidFill>
              </a:rPr>
              <a:t> the </a:t>
            </a:r>
            <a:r>
              <a:rPr lang="it-IT" sz="1800" dirty="0" err="1">
                <a:solidFill>
                  <a:srgbClr val="205DA6"/>
                </a:solidFill>
              </a:rPr>
              <a:t>modules</a:t>
            </a:r>
            <a:r>
              <a:rPr lang="it-IT" sz="1800" dirty="0">
                <a:solidFill>
                  <a:srgbClr val="205DA6"/>
                </a:solidFill>
              </a:rPr>
              <a:t> </a:t>
            </a:r>
            <a:r>
              <a:rPr lang="it-IT" sz="1800" dirty="0" err="1">
                <a:solidFill>
                  <a:srgbClr val="205DA6"/>
                </a:solidFill>
              </a:rPr>
              <a:t>using</a:t>
            </a:r>
            <a:r>
              <a:rPr lang="it-IT" sz="1800" dirty="0">
                <a:solidFill>
                  <a:srgbClr val="205DA6"/>
                </a:solidFill>
              </a:rPr>
              <a:t> </a:t>
            </a:r>
            <a:r>
              <a:rPr lang="it-IT" sz="1800" dirty="0">
                <a:solidFill>
                  <a:schemeClr val="bg2">
                    <a:lumMod val="25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include</a:t>
            </a:r>
            <a:r>
              <a:rPr lang="it-IT" sz="1800" dirty="0">
                <a:solidFill>
                  <a:srgbClr val="205DA6"/>
                </a:solidFill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endParaRPr lang="it-IT" sz="1800" dirty="0">
              <a:solidFill>
                <a:srgbClr val="205DA6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dirty="0">
                <a:solidFill>
                  <a:srgbClr val="205DA6"/>
                </a:solidFill>
              </a:rPr>
              <a:t>Create a </a:t>
            </a:r>
            <a:r>
              <a:rPr lang="it-IT" sz="1800" b="1" dirty="0" err="1">
                <a:solidFill>
                  <a:srgbClr val="205DA6"/>
                </a:solidFill>
              </a:rPr>
              <a:t>named</a:t>
            </a:r>
            <a:r>
              <a:rPr lang="it-IT" sz="1800" b="1" dirty="0">
                <a:solidFill>
                  <a:srgbClr val="205DA6"/>
                </a:solidFill>
              </a:rPr>
              <a:t> workflow</a:t>
            </a:r>
            <a:r>
              <a:rPr lang="it-IT" sz="1800" dirty="0">
                <a:solidFill>
                  <a:srgbClr val="205DA6"/>
                </a:solidFill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endParaRPr lang="it-IT" sz="1800" dirty="0">
              <a:solidFill>
                <a:srgbClr val="205DA6"/>
              </a:solidFill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r>
              <a:rPr lang="it-IT" sz="1800" u="sng" dirty="0">
                <a:solidFill>
                  <a:srgbClr val="205DA6"/>
                </a:solidFill>
              </a:rPr>
              <a:t>Input</a:t>
            </a:r>
            <a:r>
              <a:rPr lang="it-IT" sz="1800" dirty="0">
                <a:solidFill>
                  <a:srgbClr val="205DA6"/>
                </a:solidFill>
              </a:rPr>
              <a:t>, </a:t>
            </a:r>
            <a:r>
              <a:rPr lang="it-IT" sz="1800" u="sng" dirty="0" err="1">
                <a:solidFill>
                  <a:srgbClr val="205DA6"/>
                </a:solidFill>
              </a:rPr>
              <a:t>logic</a:t>
            </a:r>
            <a:r>
              <a:rPr lang="it-IT" sz="1800" dirty="0">
                <a:solidFill>
                  <a:srgbClr val="205DA6"/>
                </a:solidFill>
              </a:rPr>
              <a:t> and </a:t>
            </a:r>
            <a:r>
              <a:rPr lang="it-IT" sz="1800" u="sng" dirty="0">
                <a:solidFill>
                  <a:srgbClr val="205DA6"/>
                </a:solidFill>
              </a:rPr>
              <a:t>output</a:t>
            </a:r>
            <a:r>
              <a:rPr lang="it-IT" sz="1800" dirty="0">
                <a:solidFill>
                  <a:srgbClr val="205DA6"/>
                </a:solidFill>
              </a:rPr>
              <a:t> of the </a:t>
            </a:r>
            <a:r>
              <a:rPr lang="it-IT" sz="1800" dirty="0" err="1">
                <a:solidFill>
                  <a:srgbClr val="205DA6"/>
                </a:solidFill>
              </a:rPr>
              <a:t>subworkflow</a:t>
            </a:r>
            <a:r>
              <a:rPr lang="it-IT" sz="1800" dirty="0">
                <a:solidFill>
                  <a:srgbClr val="205DA6"/>
                </a:solidFill>
              </a:rPr>
              <a:t> are </a:t>
            </a:r>
            <a:r>
              <a:rPr lang="it-IT" sz="1800" dirty="0" err="1">
                <a:solidFill>
                  <a:srgbClr val="205DA6"/>
                </a:solidFill>
              </a:rPr>
              <a:t>controlled</a:t>
            </a:r>
            <a:r>
              <a:rPr lang="it-IT" sz="1800" dirty="0">
                <a:solidFill>
                  <a:srgbClr val="205DA6"/>
                </a:solidFill>
              </a:rPr>
              <a:t> with </a:t>
            </a:r>
            <a:r>
              <a:rPr lang="it-IT" sz="1800" dirty="0">
                <a:solidFill>
                  <a:schemeClr val="bg2">
                    <a:lumMod val="25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take</a:t>
            </a:r>
            <a:r>
              <a:rPr lang="it-IT" sz="1800" dirty="0">
                <a:solidFill>
                  <a:srgbClr val="205DA6"/>
                </a:solidFill>
              </a:rPr>
              <a:t>, </a:t>
            </a:r>
            <a:r>
              <a:rPr lang="it-IT" sz="1800" dirty="0" err="1">
                <a:solidFill>
                  <a:schemeClr val="bg2">
                    <a:lumMod val="25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it-IT" sz="1800" dirty="0">
                <a:solidFill>
                  <a:srgbClr val="205DA6"/>
                </a:solidFill>
              </a:rPr>
              <a:t> and </a:t>
            </a:r>
            <a:r>
              <a:rPr lang="it-IT" sz="1800" dirty="0" err="1">
                <a:solidFill>
                  <a:schemeClr val="bg2">
                    <a:lumMod val="25000"/>
                  </a:schemeClr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emit</a:t>
            </a:r>
            <a:r>
              <a:rPr lang="it-IT" sz="1800" dirty="0">
                <a:solidFill>
                  <a:srgbClr val="205DA6"/>
                </a:solidFill>
              </a:rPr>
              <a:t> in the workflow </a:t>
            </a:r>
            <a:r>
              <a:rPr lang="it-IT" sz="1800" dirty="0" err="1">
                <a:solidFill>
                  <a:srgbClr val="205DA6"/>
                </a:solidFill>
              </a:rPr>
              <a:t>definition</a:t>
            </a:r>
            <a:r>
              <a:rPr lang="it-IT" sz="1800" dirty="0">
                <a:solidFill>
                  <a:srgbClr val="205DA6"/>
                </a:solidFill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>
                <a:srgbClr val="A2C037"/>
              </a:buClr>
              <a:buSzPct val="150000"/>
              <a:buFontTx/>
              <a:buChar char="-"/>
              <a:tabLst/>
              <a:defRPr/>
            </a:pPr>
            <a:endParaRPr lang="it-IT" sz="1400" dirty="0">
              <a:solidFill>
                <a:srgbClr val="205DA6"/>
              </a:solidFill>
            </a:endParaRPr>
          </a:p>
          <a:p>
            <a:pPr marL="457200" lvl="1" indent="0" algn="ctr">
              <a:lnSpc>
                <a:spcPct val="107000"/>
              </a:lnSpc>
              <a:spcBef>
                <a:spcPts val="1000"/>
              </a:spcBef>
              <a:buClr>
                <a:srgbClr val="A2C037"/>
              </a:buClr>
              <a:buSzPct val="150000"/>
              <a:buNone/>
              <a:defRPr/>
            </a:pPr>
            <a:endParaRPr lang="it-IT" sz="1400" b="1" u="sng" dirty="0">
              <a:solidFill>
                <a:srgbClr val="205DA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E0A6C-DC25-E7F6-370C-20C654EA9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827" y="1103064"/>
            <a:ext cx="5314946" cy="516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765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HT">
      <a:dk1>
        <a:srgbClr val="FFFFFF"/>
      </a:dk1>
      <a:lt1>
        <a:srgbClr val="205DA6"/>
      </a:lt1>
      <a:dk2>
        <a:srgbClr val="E6E6E6"/>
      </a:dk2>
      <a:lt2>
        <a:srgbClr val="797979"/>
      </a:lt2>
      <a:accent1>
        <a:srgbClr val="205DA6"/>
      </a:accent1>
      <a:accent2>
        <a:srgbClr val="009DE0"/>
      </a:accent2>
      <a:accent3>
        <a:srgbClr val="0085CA"/>
      </a:accent3>
      <a:accent4>
        <a:srgbClr val="A2C037"/>
      </a:accent4>
      <a:accent5>
        <a:srgbClr val="6CB36E"/>
      </a:accent5>
      <a:accent6>
        <a:srgbClr val="A1C036"/>
      </a:accent6>
      <a:hlink>
        <a:srgbClr val="009CDF"/>
      </a:hlink>
      <a:folHlink>
        <a:srgbClr val="005CA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0635F13F-893A-4E32-B13F-10E707054757}" vid="{6081DC92-7DD5-4D73-8050-C737C910D198}"/>
    </a:ext>
  </a:extLst>
</a:theme>
</file>

<file path=ppt/theme/theme2.xml><?xml version="1.0" encoding="utf-8"?>
<a:theme xmlns:a="http://schemas.openxmlformats.org/drawingml/2006/main" name="1_Tema2">
  <a:themeElements>
    <a:clrScheme name="HT 4">
      <a:dk1>
        <a:srgbClr val="FFFFFF"/>
      </a:dk1>
      <a:lt1>
        <a:srgbClr val="005CA8"/>
      </a:lt1>
      <a:dk2>
        <a:srgbClr val="E6E6E6"/>
      </a:dk2>
      <a:lt2>
        <a:srgbClr val="797979"/>
      </a:lt2>
      <a:accent1>
        <a:srgbClr val="005CA8"/>
      </a:accent1>
      <a:accent2>
        <a:srgbClr val="0085C9"/>
      </a:accent2>
      <a:accent3>
        <a:srgbClr val="009CDF"/>
      </a:accent3>
      <a:accent4>
        <a:srgbClr val="36A8A7"/>
      </a:accent4>
      <a:accent5>
        <a:srgbClr val="6CB36E"/>
      </a:accent5>
      <a:accent6>
        <a:srgbClr val="A1C036"/>
      </a:accent6>
      <a:hlink>
        <a:srgbClr val="009CDF"/>
      </a:hlink>
      <a:folHlink>
        <a:srgbClr val="005C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635F13F-893A-4E32-B13F-10E707054757}" vid="{B4DB639D-9F5B-4CA0-841D-B780922EE094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9C53E69DF893498D53E88FCFEC90C5" ma:contentTypeVersion="4" ma:contentTypeDescription="Create a new document." ma:contentTypeScope="" ma:versionID="5956622636572f066179bb6255b055bc">
  <xsd:schema xmlns:xsd="http://www.w3.org/2001/XMLSchema" xmlns:xs="http://www.w3.org/2001/XMLSchema" xmlns:p="http://schemas.microsoft.com/office/2006/metadata/properties" xmlns:ns2="c1d14c02-2e30-489d-ab18-58f4085bf17e" targetNamespace="http://schemas.microsoft.com/office/2006/metadata/properties" ma:root="true" ma:fieldsID="06dae4a3e4cc641b7d070688d43041ad" ns2:_="">
    <xsd:import namespace="c1d14c02-2e30-489d-ab18-58f4085bf1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d14c02-2e30-489d-ab18-58f4085bf1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348BE6-2C61-46BB-8106-7E2CD5B0FD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d14c02-2e30-489d-ab18-58f4085bf1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95609A-BAFD-4C45-9E84-5485CA4BDFA0}">
  <ds:schemaRefs>
    <ds:schemaRef ds:uri="http://schemas.microsoft.com/office/2006/metadata/properties"/>
    <ds:schemaRef ds:uri="http://schemas.microsoft.com/office/infopath/2007/PartnerControls"/>
    <ds:schemaRef ds:uri="53e8f5ff-822f-4411-abeb-53d488fb2f41"/>
    <ds:schemaRef ds:uri="fb4db8c3-2abc-40f8-a901-136f378f8af1"/>
  </ds:schemaRefs>
</ds:datastoreItem>
</file>

<file path=customXml/itemProps3.xml><?xml version="1.0" encoding="utf-8"?>
<ds:datastoreItem xmlns:ds="http://schemas.openxmlformats.org/officeDocument/2006/customXml" ds:itemID="{3539ECAC-9AC8-437B-80E4-0A93E807B7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TotalTime>95</TotalTime>
  <Words>226</Words>
  <Application>Microsoft Macintosh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Avenir Next</vt:lpstr>
      <vt:lpstr>Consolas</vt:lpstr>
      <vt:lpstr>Tema di Office</vt:lpstr>
      <vt:lpstr>1_Tema2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Carrillo Bautista</dc:creator>
  <cp:lastModifiedBy>Daniel Carrillo Bautista</cp:lastModifiedBy>
  <cp:revision>2</cp:revision>
  <dcterms:created xsi:type="dcterms:W3CDTF">2026-01-21T14:25:35Z</dcterms:created>
  <dcterms:modified xsi:type="dcterms:W3CDTF">2026-01-21T16:01:00Z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0x0101001B9C53E69DF893498D53E88FCFEC90C5</vt:lpwstr>
  </property>
  <property fmtid="{D5CDD505-2E9C-101B-9397-08002B2CF9AE}" pid="3" name="MediaServiceImageTags">
    <vt:lpwstr/>
  </property>
</Properties>
</file>